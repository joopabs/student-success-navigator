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200" y="876300"/>
            <a:ext cx="533400" cy="28575"/>
          </a:xfrm>
          <a:prstGeom prst="rect">
            <a:avLst/>
          </a:prstGeom>
          <a:solidFill>
            <a:srgbClr val="E0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485900" y="828675"/>
            <a:ext cx="6667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75" b="1" spc="200">
                <a:solidFill>
                  <a:srgbClr val="B8C6D8"/>
                </a:solidFill>
                <a:latin typeface="Calibri"/>
              </a:rPr>
              <a:t>DECISION-SUPPORT PROTOTYPE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1447800"/>
            <a:ext cx="9144000" cy="171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5700" b="0">
                <a:solidFill>
                  <a:srgbClr val="FFFFFF"/>
                </a:solidFill>
                <a:latin typeface="Georgia"/>
              </a:rPr>
              <a:t>Student Success Navigator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8200" y="31432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50" b="0">
                <a:solidFill>
                  <a:srgbClr val="D6E0EC"/>
                </a:solidFill>
                <a:latin typeface="Georgia"/>
              </a:rPr>
              <a:t>Earlier, fairer, supportive outreach after the first semester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8200" y="4114800"/>
            <a:ext cx="7429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275" b="0">
                <a:solidFill>
                  <a:srgbClr val="B8C6D8"/>
                </a:solidFill>
                <a:latin typeface="Calibri"/>
              </a:rPr>
              <a:t>A decision-support prototype built on one institution's public data (UCI, CC BY 4.0) — illustrative, not deployed.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838200" y="6096000"/>
            <a:ext cx="10515600" cy="9525"/>
          </a:xfrm>
          <a:prstGeom prst="rect">
            <a:avLst/>
          </a:prstGeom>
          <a:solidFill>
            <a:srgbClr val="3A54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200" y="62484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75" b="0">
                <a:solidFill>
                  <a:srgbClr val="B8C6D8"/>
                </a:solidFill>
                <a:latin typeface="Consolas"/>
              </a:rPr>
              <a:t>model version 1.0.0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38800" y="62484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75" b="0">
                <a:solidFill>
                  <a:srgbClr val="B8C6D8"/>
                </a:solidFill>
                <a:latin typeface="Consolas"/>
              </a:rPr>
              <a:t>reports/model_card.md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33400"/>
            <a:ext cx="762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spc="170">
                <a:solidFill>
                  <a:srgbClr val="5B6B7B"/>
                </a:solidFill>
                <a:latin typeface="Calibri"/>
              </a:rPr>
              <a:t>THE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86200" y="533400"/>
            <a:ext cx="762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spc="170">
                <a:solidFill>
                  <a:srgbClr val="5B6B7B"/>
                </a:solidFill>
                <a:latin typeface="Calibri"/>
              </a:rPr>
              <a:t>02 / 10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81050"/>
            <a:ext cx="10820400" cy="1905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04900"/>
            <a:ext cx="9525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000" b="1">
                <a:solidFill>
                  <a:srgbClr val="1F3A5F"/>
                </a:solidFill>
                <a:latin typeface="Georgia"/>
              </a:rPr>
              <a:t>Many students who leave show academic warning signs in their first semester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343150"/>
            <a:ext cx="495300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150" b="1">
                <a:solidFill>
                  <a:srgbClr val="1F3A5F"/>
                </a:solidFill>
                <a:latin typeface="Georgia"/>
              </a:rPr>
              <a:t>32%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314700"/>
            <a:ext cx="44767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5" b="0">
                <a:solidFill>
                  <a:srgbClr val="1D2A3A"/>
                </a:solidFill>
                <a:latin typeface="Calibri"/>
              </a:rPr>
              <a:t>of students in the historical dataset did not complete — 1,421 of 4,424.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038600"/>
            <a:ext cx="2133600" cy="247650"/>
          </a:xfrm>
          <a:prstGeom prst="rect">
            <a:avLst/>
          </a:prstGeom>
          <a:solidFill>
            <a:srgbClr val="EEF1F5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100" y="4105275"/>
            <a:ext cx="20002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5" b="1" spc="130">
                <a:solidFill>
                  <a:srgbClr val="5B6B7B"/>
                </a:solidFill>
                <a:latin typeface="Calibri"/>
              </a:rPr>
              <a:t>MEASURED · THIS DATASET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67400" y="2343150"/>
            <a:ext cx="19050" cy="2247900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48400" y="2343150"/>
            <a:ext cx="52578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25" b="0">
                <a:solidFill>
                  <a:srgbClr val="1D2A3A"/>
                </a:solidFill>
                <a:latin typeface="Calibri"/>
              </a:rPr>
              <a:t>Advisers have limited time to reach them. The opportunity is to prioritise voluntary, supportive conversations with the students most likely to benefit — within advisers' existing time.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48400" y="3695700"/>
            <a:ext cx="5257800" cy="895350"/>
          </a:xfrm>
          <a:prstGeom prst="rect">
            <a:avLst/>
          </a:prstGeom>
          <a:solidFill>
            <a:srgbClr val="FFF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8400" y="3695700"/>
            <a:ext cx="38100" cy="895350"/>
          </a:xfrm>
          <a:prstGeom prst="rect">
            <a:avLst/>
          </a:prstGeom>
          <a:solidFill>
            <a:srgbClr val="E0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8900" y="3848100"/>
            <a:ext cx="4762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5" b="1" spc="150">
                <a:solidFill>
                  <a:srgbClr val="8A5A00"/>
                </a:solidFill>
                <a:latin typeface="Calibri"/>
              </a:rPr>
              <a:t>WHAT THIS DECK DOES NOT CLAIM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8900" y="4076700"/>
            <a:ext cx="48768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D2A3A"/>
                </a:solidFill>
                <a:latin typeface="Calibri"/>
              </a:rPr>
              <a:t>That outreach reduces dropout. That is the hypothesis a pilot would test.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6324600"/>
            <a:ext cx="10820400" cy="9525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6438900"/>
            <a:ext cx="108204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7B"/>
                </a:solidFill>
                <a:latin typeface="Consolas"/>
              </a:rPr>
              <a:t>reports/tables/profile_target.csv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33400"/>
            <a:ext cx="762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spc="170">
                <a:solidFill>
                  <a:srgbClr val="5B6B7B"/>
                </a:solidFill>
                <a:latin typeface="Calibri"/>
              </a:rPr>
              <a:t>HOW IT WOULD BE USED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86200" y="533400"/>
            <a:ext cx="762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spc="170">
                <a:solidFill>
                  <a:srgbClr val="5B6B7B"/>
                </a:solidFill>
                <a:latin typeface="Calibri"/>
              </a:rPr>
              <a:t>03 / 10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81050"/>
            <a:ext cx="10820400" cy="1905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04900"/>
            <a:ext cx="108204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700" b="1">
                <a:solidFill>
                  <a:srgbClr val="1F3A5F"/>
                </a:solidFill>
                <a:latin typeface="Georgia"/>
              </a:rPr>
              <a:t>The adviser stays the decision-maker at every step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714500"/>
            <a:ext cx="19812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714500"/>
            <a:ext cx="1981200" cy="28575"/>
          </a:xfrm>
          <a:prstGeom prst="rect">
            <a:avLst/>
          </a:prstGeom>
          <a:solidFill>
            <a:srgbClr val="5B6B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9150" y="1847850"/>
            <a:ext cx="1714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5" b="1" spc="150">
                <a:solidFill>
                  <a:srgbClr val="5B6B7B"/>
                </a:solidFill>
                <a:latin typeface="Calibri"/>
              </a:rPr>
              <a:t>TRIGGER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150" y="2038350"/>
            <a:ext cx="1714500" cy="495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D2A3A"/>
                </a:solidFill>
                <a:latin typeface="Calibri"/>
              </a:rPr>
              <a:t>End of semester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67000" y="2057400"/>
            <a:ext cx="2286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50" b="0">
                <a:solidFill>
                  <a:srgbClr val="9AA8B8"/>
                </a:solidFill>
                <a:latin typeface="Calibri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95600" y="1714500"/>
            <a:ext cx="19812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895600" y="1714500"/>
            <a:ext cx="1981200" cy="28575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8950" y="1847850"/>
            <a:ext cx="1714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5" b="1" spc="150">
                <a:solidFill>
                  <a:srgbClr val="4C72B0"/>
                </a:solidFill>
                <a:latin typeface="Calibri"/>
              </a:rPr>
              <a:t>MODEL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28950" y="2038350"/>
            <a:ext cx="1714500" cy="495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D2A3A"/>
                </a:solidFill>
                <a:latin typeface="Calibri"/>
              </a:rPr>
              <a:t>Support-priority score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76800" y="2057400"/>
            <a:ext cx="2286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50" b="0">
                <a:solidFill>
                  <a:srgbClr val="9AA8B8"/>
                </a:solidFill>
                <a:latin typeface="Calibri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05400" y="1714500"/>
            <a:ext cx="19812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05400" y="1714500"/>
            <a:ext cx="1981200" cy="28575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38750" y="1847850"/>
            <a:ext cx="1714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5" b="1" spc="150">
                <a:solidFill>
                  <a:srgbClr val="4C72B0"/>
                </a:solidFill>
                <a:latin typeface="Calibri"/>
              </a:rPr>
              <a:t>SHORTLIST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38750" y="2038350"/>
            <a:ext cx="1714500" cy="495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D2A3A"/>
                </a:solidFill>
                <a:latin typeface="Calibri"/>
              </a:rPr>
              <a:t>Support Queue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38750" y="2400300"/>
            <a:ext cx="1714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75" b="0">
                <a:solidFill>
                  <a:srgbClr val="5B6B7B"/>
                </a:solidFill>
                <a:latin typeface="Calibri"/>
              </a:rPr>
              <a:t>top-K list, supportive bands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2057400"/>
            <a:ext cx="2286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50" b="0">
                <a:solidFill>
                  <a:srgbClr val="9AA8B8"/>
                </a:solidFill>
                <a:latin typeface="Calibri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0" y="1714500"/>
            <a:ext cx="19812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B779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15200" y="1714500"/>
            <a:ext cx="1981200" cy="28575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48550" y="1847850"/>
            <a:ext cx="1714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5" b="1" spc="150">
                <a:solidFill>
                  <a:srgbClr val="B7791F"/>
                </a:solidFill>
                <a:latin typeface="Calibri"/>
              </a:rPr>
              <a:t>HUMAN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48550" y="2038350"/>
            <a:ext cx="1714500" cy="495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D2A3A"/>
                </a:solidFill>
                <a:latin typeface="Calibri"/>
              </a:rPr>
              <a:t>Adviser reviews each record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96400" y="2057400"/>
            <a:ext cx="2286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50" b="0">
                <a:solidFill>
                  <a:srgbClr val="9AA8B8"/>
                </a:solidFill>
                <a:latin typeface="Calibri"/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25000" y="1714500"/>
            <a:ext cx="19812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B779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525000" y="1714500"/>
            <a:ext cx="1981200" cy="28575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58350" y="1847850"/>
            <a:ext cx="1714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5" b="1" spc="150">
                <a:solidFill>
                  <a:srgbClr val="B7791F"/>
                </a:solidFill>
                <a:latin typeface="Calibri"/>
              </a:rPr>
              <a:t>OUTCOME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58350" y="2038350"/>
            <a:ext cx="1714500" cy="495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D2A3A"/>
                </a:solidFill>
                <a:latin typeface="Calibri"/>
              </a:rPr>
              <a:t>Conversation, referral or dismiss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" y="2857500"/>
            <a:ext cx="10820400" cy="43815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6300" y="2990850"/>
            <a:ext cx="104394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>
                <a:solidFill>
                  <a:srgbClr val="FFFFFF"/>
                </a:solidFill>
                <a:latin typeface="Calibri"/>
              </a:rPr>
              <a:t>The decision is recorded locally — </a:t>
            </a:r>
            <a:r>
              <a:rPr sz="1200" b="1">
                <a:solidFill>
                  <a:srgbClr val="FFD98A"/>
                </a:solidFill>
                <a:latin typeface="Calibri"/>
              </a:rPr>
              <a:t>nothing feeds back into the model.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3676650"/>
            <a:ext cx="335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5" b="1" spc="150">
                <a:solidFill>
                  <a:srgbClr val="2F6F4F"/>
                </a:solidFill>
                <a:latin typeface="Calibri"/>
              </a:rPr>
              <a:t>SAFEGUARD 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3905250"/>
            <a:ext cx="3352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25" b="0">
                <a:solidFill>
                  <a:srgbClr val="1D2A3A"/>
                </a:solidFill>
                <a:latin typeface="Calibri"/>
              </a:rPr>
              <a:t>Human acknowledgement is required before any action is recorded.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43400" y="3676650"/>
            <a:ext cx="335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5" b="1" spc="150">
                <a:solidFill>
                  <a:srgbClr val="2F6F4F"/>
                </a:solidFill>
                <a:latin typeface="Calibri"/>
              </a:rPr>
              <a:t>SAFEGUARD 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43400" y="3905250"/>
            <a:ext cx="3352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25" b="0">
                <a:solidFill>
                  <a:srgbClr val="1D2A3A"/>
                </a:solidFill>
                <a:latin typeface="Calibri"/>
              </a:rPr>
              <a:t>No student identifiers and no outcome labels are shown to advisers.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01000" y="3676650"/>
            <a:ext cx="335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5" b="1" spc="150">
                <a:solidFill>
                  <a:srgbClr val="2F6F4F"/>
                </a:solidFill>
                <a:latin typeface="Calibri"/>
              </a:rPr>
              <a:t>SAFEGUARD 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01000" y="3905250"/>
            <a:ext cx="3352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25" b="0">
                <a:solidFill>
                  <a:srgbClr val="1D2A3A"/>
                </a:solidFill>
                <a:latin typeface="Calibri"/>
              </a:rPr>
              <a:t>Neutral academic language only.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5800" y="6324600"/>
            <a:ext cx="10820400" cy="9525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6438900"/>
            <a:ext cx="108204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7B"/>
                </a:solidFill>
                <a:latin typeface="Consolas"/>
              </a:rPr>
              <a:t>specs/001-dropout-risk-navigator/contracts/app-pages.md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33400"/>
            <a:ext cx="762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spc="170">
                <a:solidFill>
                  <a:srgbClr val="5B6B7B"/>
                </a:solidFill>
                <a:latin typeface="Calibri"/>
              </a:rPr>
              <a:t>WHAT THE SCORE IS MADE OF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86200" y="533400"/>
            <a:ext cx="762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spc="170">
                <a:solidFill>
                  <a:srgbClr val="5B6B7B"/>
                </a:solidFill>
                <a:latin typeface="Calibri"/>
              </a:rPr>
              <a:t>04 / 10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81050"/>
            <a:ext cx="10820400" cy="1905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085850"/>
            <a:ext cx="9525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700" b="1">
                <a:solidFill>
                  <a:srgbClr val="1F3A5F"/>
                </a:solidFill>
                <a:latin typeface="Georgia"/>
              </a:rPr>
              <a:t>The score reflects how the first semester went, not who the student 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90750"/>
            <a:ext cx="6667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5" b="1" spc="150">
                <a:solidFill>
                  <a:srgbClr val="5B6B7B"/>
                </a:solidFill>
                <a:latin typeface="Calibri"/>
              </a:rPr>
              <a:t>WHAT GOES 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400300"/>
            <a:ext cx="7048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75" b="0">
                <a:solidFill>
                  <a:srgbClr val="1D2A3A"/>
                </a:solidFill>
                <a:latin typeface="Calibri"/>
              </a:rPr>
              <a:t>Enrollment details and first-semester results only — 21 columns plus 7 derived indicators, such as the share of first-semester units passed.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200400"/>
            <a:ext cx="6667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5" b="1" spc="150">
                <a:solidFill>
                  <a:srgbClr val="4C72B0"/>
                </a:solidFill>
                <a:latin typeface="Calibri"/>
              </a:rPr>
              <a:t>TOP DRIVERS · MEASURED, SHAP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448050"/>
            <a:ext cx="2857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AA8B8"/>
                </a:solidFill>
                <a:latin typeface="Consola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600" y="3438525"/>
            <a:ext cx="6286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D2A3A"/>
                </a:solidFill>
                <a:latin typeface="Calibri"/>
              </a:rPr>
              <a:t>sem1_approval_rate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657600"/>
            <a:ext cx="7048500" cy="9525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733800"/>
            <a:ext cx="2857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AA8B8"/>
                </a:solidFill>
                <a:latin typeface="Consola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0600" y="3724275"/>
            <a:ext cx="6286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D2A3A"/>
                </a:solidFill>
                <a:latin typeface="Calibri"/>
              </a:rPr>
              <a:t>Curricular units 1st sem (approved)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3943350"/>
            <a:ext cx="7048500" cy="9525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019550"/>
            <a:ext cx="2857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AA8B8"/>
                </a:solidFill>
                <a:latin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0600" y="4010025"/>
            <a:ext cx="6286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D2A3A"/>
                </a:solidFill>
                <a:latin typeface="Calibri"/>
              </a:rPr>
              <a:t>Curricular units 1st sem (grade)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4229100"/>
            <a:ext cx="7048500" cy="9525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305300"/>
            <a:ext cx="2857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AA8B8"/>
                </a:solidFill>
                <a:latin typeface="Consolas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0600" y="4295775"/>
            <a:ext cx="6286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D2A3A"/>
                </a:solidFill>
                <a:latin typeface="Calibri"/>
              </a:rPr>
              <a:t>grade_diff_vs_admission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724400"/>
            <a:ext cx="7048500" cy="914400"/>
          </a:xfrm>
          <a:prstGeom prst="rect">
            <a:avLst/>
          </a:prstGeom>
          <a:solidFill>
            <a:srgbClr val="EEF1F5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7250" y="4876800"/>
            <a:ext cx="6667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5" b="1" spc="150">
                <a:solidFill>
                  <a:srgbClr val="1F3A5F"/>
                </a:solidFill>
                <a:latin typeface="Calibri"/>
              </a:rPr>
              <a:t>NEVER INPUTS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7250" y="5086350"/>
            <a:ext cx="67246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5" b="0">
                <a:solidFill>
                  <a:srgbClr val="1D2A3A"/>
                </a:solidFill>
                <a:latin typeface="Calibri"/>
              </a:rPr>
              <a:t>Anything from the second semester · financial-status flags with unclear timing · gender, age, nationality, marital status, international status, special needs.</a:t>
            </a:r>
          </a:p>
        </p:txBody>
      </p:sp>
      <p:pic>
        <p:nvPicPr>
          <p:cNvPr id="23" name="Picture 22" descr="shap_global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7700" y="2190750"/>
            <a:ext cx="3238500" cy="344090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67700" y="5753100"/>
            <a:ext cx="32385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5B6B7B"/>
                </a:solidFill>
                <a:latin typeface="Calibri"/>
              </a:rPr>
              <a:t>Full ranking: shap_global_importance.csv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" y="6324600"/>
            <a:ext cx="10820400" cy="9525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6438900"/>
            <a:ext cx="108204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7B"/>
                </a:solidFill>
                <a:latin typeface="Consolas"/>
              </a:rPr>
              <a:t>reports/explainability/shap_global_importance.csv · reports/explainability/shap_global_bar.png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33400"/>
            <a:ext cx="762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spc="170">
                <a:solidFill>
                  <a:srgbClr val="5B6B7B"/>
                </a:solidFill>
                <a:latin typeface="Calibri"/>
              </a:rPr>
              <a:t>MEASURED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86200" y="533400"/>
            <a:ext cx="762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spc="170">
                <a:solidFill>
                  <a:srgbClr val="5B6B7B"/>
                </a:solidFill>
                <a:latin typeface="Calibri"/>
              </a:rPr>
              <a:t>05 / 10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81050"/>
            <a:ext cx="10820400" cy="1905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085850"/>
            <a:ext cx="108204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700" b="1">
                <a:solidFill>
                  <a:srgbClr val="1F3A5F"/>
                </a:solidFill>
                <a:latin typeface="Georgia"/>
              </a:rPr>
              <a:t>Held-out test cohort, evaluated once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24000"/>
            <a:ext cx="6667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25" b="0">
                <a:solidFill>
                  <a:srgbClr val="5B6B7B"/>
                </a:solidFill>
                <a:latin typeface="Calibri"/>
              </a:rPr>
              <a:t>885 students · 284 of them eventually dropped out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905000"/>
          <a:ext cx="6400800" cy="18669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38500"/>
                <a:gridCol w="1600200"/>
                <a:gridCol w="1562100"/>
              </a:tblGrid>
              <a:tr h="381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825" b="1" spc="130">
                          <a:solidFill>
                            <a:srgbClr val="5B6B7B"/>
                          </a:solidFill>
                          <a:latin typeface="Calibri"/>
                        </a:rPr>
                        <a:t>MEASURE</a:t>
                      </a:r>
                    </a:p>
                  </a:txBody>
                  <a:tcPr marL="0" marR="95250" marT="57150" marB="57150" anchor="ctr">
                    <a:lnB w="25400" cap="flat" cmpd="sng" algn="ctr">
                      <a:solidFill>
                        <a:srgbClr val="1F3A5F"/>
                      </a:solidFill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5000"/>
                        </a:lnSpc>
                      </a:pPr>
                      <a:r>
                        <a:rPr sz="825" b="1" spc="130">
                          <a:solidFill>
                            <a:srgbClr val="1F3A5F"/>
                          </a:solidFill>
                          <a:latin typeface="Calibri"/>
                        </a:rPr>
                        <a:t>FINAL MODEL</a:t>
                      </a:r>
                    </a:p>
                  </a:txBody>
                  <a:tcPr marL="95250" marR="0" marT="57150" marB="57150" anchor="ctr">
                    <a:lnB w="25400" cap="flat" cmpd="sng" algn="ctr">
                      <a:solidFill>
                        <a:srgbClr val="1F3A5F"/>
                      </a:solidFill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5000"/>
                        </a:lnSpc>
                      </a:pPr>
                      <a:r>
                        <a:rPr sz="825" b="1" spc="130">
                          <a:solidFill>
                            <a:srgbClr val="5B6B7B"/>
                          </a:solidFill>
                          <a:latin typeface="Calibri"/>
                        </a:rPr>
                        <a:t>CHANCE BASELINE</a:t>
                      </a:r>
                    </a:p>
                  </a:txBody>
                  <a:tcPr marL="95250" marR="0" marT="57150" marB="57150" anchor="ctr">
                    <a:lnB w="25400" cap="flat" cmpd="sng" algn="ctr">
                      <a:solidFill>
                        <a:srgbClr val="1F3A5F"/>
                      </a:solidFill>
                    </a:lnB>
                    <a:solidFill>
                      <a:srgbClr val="FAFBFC"/>
                    </a:solidFill>
                  </a:tcPr>
                </a:tc>
              </a:tr>
              <a:tr h="495300"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125" b="0">
                          <a:solidFill>
                            <a:srgbClr val="1D2A3A"/>
                          </a:solidFill>
                          <a:latin typeface="Calibri"/>
                        </a:rPr>
                        <a:t>Ranking quality (PR-AUC)</a:t>
                      </a:r>
                    </a:p>
                  </a:txBody>
                  <a:tcPr marL="0" marR="95250" marT="57150" marB="57150" anchor="ctr">
                    <a:lnB w="12700" cap="flat" cmpd="sng" algn="ctr">
                      <a:solidFill>
                        <a:srgbClr val="D8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0000"/>
                        </a:lnSpc>
                      </a:pPr>
                      <a:r>
                        <a:rPr sz="1650" b="1">
                          <a:solidFill>
                            <a:srgbClr val="1F3A5F"/>
                          </a:solidFill>
                          <a:latin typeface="Calibri"/>
                        </a:rPr>
                        <a:t>0.82</a:t>
                      </a:r>
                    </a:p>
                  </a:txBody>
                  <a:tcPr marL="95250" marR="0" marT="57150" marB="57150" anchor="ctr">
                    <a:lnB w="12700" cap="flat" cmpd="sng" algn="ctr">
                      <a:solidFill>
                        <a:srgbClr val="D8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0000"/>
                        </a:lnSpc>
                      </a:pPr>
                      <a:r>
                        <a:rPr sz="1200" b="0">
                          <a:solidFill>
                            <a:srgbClr val="5B6B7B"/>
                          </a:solidFill>
                          <a:latin typeface="Calibri"/>
                        </a:rPr>
                        <a:t>0.32</a:t>
                      </a:r>
                    </a:p>
                  </a:txBody>
                  <a:tcPr marL="95250" marR="0" marT="57150" marB="57150" anchor="ctr">
                    <a:lnB w="12700" cap="flat" cmpd="sng" algn="ctr">
                      <a:solidFill>
                        <a:srgbClr val="D8DE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125" b="0">
                          <a:solidFill>
                            <a:srgbClr val="1D2A3A"/>
                          </a:solidFill>
                          <a:latin typeface="Calibri"/>
                        </a:rPr>
                        <a:t>Of a top-50 list, later dropped out (Precision@K)</a:t>
                      </a:r>
                    </a:p>
                  </a:txBody>
                  <a:tcPr marL="0" marR="95250" marT="57150" marB="57150" anchor="ctr">
                    <a:lnB w="12700" cap="flat" cmpd="sng" algn="ctr">
                      <a:solidFill>
                        <a:srgbClr val="D8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0000"/>
                        </a:lnSpc>
                      </a:pPr>
                      <a:r>
                        <a:rPr sz="1650" b="1">
                          <a:solidFill>
                            <a:srgbClr val="1F3A5F"/>
                          </a:solidFill>
                          <a:latin typeface="Calibri"/>
                        </a:rPr>
                        <a:t>96%</a:t>
                      </a:r>
                    </a:p>
                  </a:txBody>
                  <a:tcPr marL="95250" marR="0" marT="57150" marB="57150" anchor="ctr">
                    <a:lnB w="12700" cap="flat" cmpd="sng" algn="ctr">
                      <a:solidFill>
                        <a:srgbClr val="D8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0000"/>
                        </a:lnSpc>
                      </a:pPr>
                      <a:r>
                        <a:rPr sz="1200" b="0">
                          <a:solidFill>
                            <a:srgbClr val="5B6B7B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 marL="95250" marR="0" marT="57150" marB="57150" anchor="ctr">
                    <a:lnB w="12700" cap="flat" cmpd="sng" algn="ctr">
                      <a:solidFill>
                        <a:srgbClr val="D8DE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125" b="0">
                          <a:solidFill>
                            <a:srgbClr val="1D2A3A"/>
                          </a:solidFill>
                          <a:latin typeface="Calibri"/>
                        </a:rPr>
                        <a:t>Calibration error (lower is better)</a:t>
                      </a:r>
                    </a:p>
                  </a:txBody>
                  <a:tcPr marL="0" marR="95250" marT="57150" marB="57150" anchor="ctr">
                    <a:lnB w="12700" cap="flat" cmpd="sng" algn="ctr">
                      <a:solidFill>
                        <a:srgbClr val="D8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0000"/>
                        </a:lnSpc>
                      </a:pPr>
                      <a:r>
                        <a:rPr sz="1650" b="1">
                          <a:solidFill>
                            <a:srgbClr val="1F3A5F"/>
                          </a:solidFill>
                          <a:latin typeface="Calibri"/>
                        </a:rPr>
                        <a:t>0.034</a:t>
                      </a:r>
                    </a:p>
                  </a:txBody>
                  <a:tcPr marL="95250" marR="0" marT="57150" marB="57150" anchor="ctr">
                    <a:lnB w="12700" cap="flat" cmpd="sng" algn="ctr">
                      <a:solidFill>
                        <a:srgbClr val="D8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0000"/>
                        </a:lnSpc>
                      </a:pPr>
                      <a:r>
                        <a:rPr sz="1200" b="0">
                          <a:solidFill>
                            <a:srgbClr val="5B6B7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95250" marR="0" marT="57150" marB="57150" anchor="ctr">
                    <a:lnB w="12700" cap="flat" cmpd="sng" algn="ctr">
                      <a:solidFill>
                        <a:srgbClr val="D8DEE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85800" y="3924300"/>
            <a:ext cx="28575" cy="723900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7250" y="3924300"/>
            <a:ext cx="5543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5" b="0">
                <a:solidFill>
                  <a:srgbClr val="1D2A3A"/>
                </a:solidFill>
                <a:latin typeface="Georgia"/>
              </a:rPr>
              <a:t>When the model puts a student on a 50-person list, about 96 in 100 later dropped out. For a random list it would be about 42 in 100.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4876800"/>
            <a:ext cx="6400800" cy="533400"/>
          </a:xfrm>
          <a:prstGeom prst="rect">
            <a:avLst/>
          </a:prstGeom>
          <a:solidFill>
            <a:srgbClr val="FFF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4876800"/>
            <a:ext cx="38100" cy="533400"/>
          </a:xfrm>
          <a:prstGeom prst="rect">
            <a:avLst/>
          </a:prstGeom>
          <a:solidFill>
            <a:srgbClr val="E0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7250" y="5029200"/>
            <a:ext cx="6096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5" b="0">
                <a:solidFill>
                  <a:srgbClr val="1D2A3A"/>
                </a:solidFill>
                <a:latin typeface="Calibri"/>
              </a:rPr>
              <a:t>Measured on one institution's historical data. A local pilot must re-measure.</a:t>
            </a:r>
          </a:p>
        </p:txBody>
      </p:sp>
      <p:pic>
        <p:nvPicPr>
          <p:cNvPr id="13" name="Picture 12" descr="test_pr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5700" y="1905000"/>
            <a:ext cx="4000500" cy="314325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85800" y="6324600"/>
            <a:ext cx="10820400" cy="9525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438900"/>
            <a:ext cx="108204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7B"/>
                </a:solidFill>
                <a:latin typeface="Consolas"/>
              </a:rPr>
              <a:t>reports/tables/test_metrics_all_models.csv · reports/figures/test_pr_curve.png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33400"/>
            <a:ext cx="762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spc="170">
                <a:solidFill>
                  <a:srgbClr val="5B6B7B"/>
                </a:solidFill>
                <a:latin typeface="Calibri"/>
              </a:rPr>
              <a:t>OUTREACH REACH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86200" y="533400"/>
            <a:ext cx="762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spc="170">
                <a:solidFill>
                  <a:srgbClr val="5B6B7B"/>
                </a:solidFill>
                <a:latin typeface="Calibri"/>
              </a:rPr>
              <a:t>06 / 10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81050"/>
            <a:ext cx="10820400" cy="1905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E0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066800"/>
            <a:ext cx="2209800" cy="285750"/>
          </a:xfrm>
          <a:prstGeom prst="rect">
            <a:avLst/>
          </a:prstGeom>
          <a:solidFill>
            <a:srgbClr val="FFF7E6"/>
          </a:solidFill>
          <a:ln w="9525">
            <a:solidFill>
              <a:srgbClr val="E0A8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9150" y="1143000"/>
            <a:ext cx="20002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spc="180">
                <a:solidFill>
                  <a:srgbClr val="8A5A00"/>
                </a:solidFill>
                <a:latin typeface="Calibri"/>
              </a:rPr>
              <a:t>ILLUSTRATIVE ASSUMPTIONS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67050" y="1152525"/>
            <a:ext cx="84391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B6B7B"/>
                </a:solidFill>
                <a:latin typeface="Calibri"/>
              </a:rPr>
              <a:t>The two columns on the right are measured; the window and the number contacted are assumed.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543050"/>
            <a:ext cx="108204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700" b="1">
                <a:solidFill>
                  <a:srgbClr val="1F3A5F"/>
                </a:solidFill>
                <a:latin typeface="Georgia"/>
              </a:rPr>
              <a:t>Reach is limited by adviser time, not by the model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85800" y="2209800"/>
          <a:ext cx="7581900" cy="20955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05000"/>
                <a:gridCol w="1600200"/>
                <a:gridCol w="2057400"/>
                <a:gridCol w="2019300"/>
              </a:tblGrid>
              <a:tr h="552450">
                <a:tc>
                  <a:txBody>
                    <a:bodyPr wrap="square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825" b="1" spc="130">
                          <a:solidFill>
                            <a:srgbClr val="8A5A00"/>
                          </a:solidFill>
                          <a:latin typeface="Calibri"/>
                        </a:rPr>
                        <a:t>OUTREACH WINDOW</a:t>
                      </a:r>
                    </a:p>
                    <a:p>
                      <a:pPr algn="l"/>
                      <a:r>
                        <a:rPr sz="825">
                          <a:solidFill>
                            <a:srgbClr val="8A5A00"/>
                          </a:solidFill>
                          <a:latin typeface="Calibri"/>
                        </a:rPr>
                        <a:t>illustrative</a:t>
                      </a:r>
                    </a:p>
                  </a:txBody>
                  <a:tcPr marL="0" marR="95250" marT="57150" marB="57150" anchor="ctr">
                    <a:lnB w="25400" cap="flat" cmpd="sng" algn="ctr">
                      <a:solidFill>
                        <a:srgbClr val="1F3A5F"/>
                      </a:solidFill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5000"/>
                        </a:lnSpc>
                      </a:pPr>
                      <a:r>
                        <a:rPr sz="825" b="1" spc="130">
                          <a:solidFill>
                            <a:srgbClr val="8A5A00"/>
                          </a:solidFill>
                          <a:latin typeface="Calibri"/>
                        </a:rPr>
                        <a:t>STUDENTS CONTACTED</a:t>
                      </a:r>
                    </a:p>
                    <a:p>
                      <a:pPr algn="r"/>
                      <a:r>
                        <a:rPr sz="825">
                          <a:solidFill>
                            <a:srgbClr val="8A5A00"/>
                          </a:solidFill>
                          <a:latin typeface="Calibri"/>
                        </a:rPr>
                        <a:t>illustrative</a:t>
                      </a:r>
                    </a:p>
                  </a:txBody>
                  <a:tcPr marL="95250" marR="0" marT="57150" marB="57150" anchor="ctr">
                    <a:lnB w="25400" cap="flat" cmpd="sng" algn="ctr">
                      <a:solidFill>
                        <a:srgbClr val="1F3A5F"/>
                      </a:solidFill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5000"/>
                        </a:lnSpc>
                      </a:pPr>
                      <a:r>
                        <a:rPr sz="825" b="1" spc="130">
                          <a:solidFill>
                            <a:srgbClr val="1F3A5F"/>
                          </a:solidFill>
                          <a:latin typeface="Calibri"/>
                        </a:rPr>
                        <a:t>SHARE OF EVENTUAL DROPOUTS REACHED</a:t>
                      </a:r>
                    </a:p>
                    <a:p>
                      <a:pPr algn="r"/>
                      <a:r>
                        <a:rPr sz="825">
                          <a:solidFill>
                            <a:srgbClr val="1F3A5F"/>
                          </a:solidFill>
                          <a:latin typeface="Calibri"/>
                        </a:rPr>
                        <a:t>measured recall</a:t>
                      </a:r>
                    </a:p>
                  </a:txBody>
                  <a:tcPr marL="95250" marR="0" marT="57150" marB="57150" anchor="ctr">
                    <a:lnB w="25400" cap="flat" cmpd="sng" algn="ctr">
                      <a:solidFill>
                        <a:srgbClr val="1F3A5F"/>
                      </a:solidFill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5000"/>
                        </a:lnSpc>
                      </a:pPr>
                      <a:r>
                        <a:rPr sz="825" b="1" spc="130">
                          <a:solidFill>
                            <a:srgbClr val="1F3A5F"/>
                          </a:solidFill>
                          <a:latin typeface="Calibri"/>
                        </a:rPr>
                        <a:t>CONTACTED WHO DID DROP OUT</a:t>
                      </a:r>
                    </a:p>
                    <a:p>
                      <a:pPr algn="r"/>
                      <a:r>
                        <a:rPr sz="825">
                          <a:solidFill>
                            <a:srgbClr val="1F3A5F"/>
                          </a:solidFill>
                          <a:latin typeface="Calibri"/>
                        </a:rPr>
                        <a:t>measured precision</a:t>
                      </a:r>
                    </a:p>
                  </a:txBody>
                  <a:tcPr marL="95250" marR="0" marT="57150" marB="57150" anchor="ctr">
                    <a:lnB w="25400" cap="flat" cmpd="sng" algn="ctr">
                      <a:solidFill>
                        <a:srgbClr val="1F3A5F"/>
                      </a:solidFill>
                    </a:lnB>
                    <a:solidFill>
                      <a:srgbClr val="FAFBFC"/>
                    </a:solidFill>
                  </a:tcPr>
                </a:tc>
              </a:tr>
              <a:tr h="514350"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200" b="0">
                          <a:solidFill>
                            <a:srgbClr val="1D2A3A"/>
                          </a:solidFill>
                          <a:latin typeface="Calibri"/>
                        </a:rPr>
                        <a:t>2 weeks</a:t>
                      </a:r>
                    </a:p>
                  </a:txBody>
                  <a:tcPr marL="0" marR="95250" marT="57150" marB="57150" anchor="ctr">
                    <a:lnB w="12700" cap="flat" cmpd="sng" algn="ctr">
                      <a:solidFill>
                        <a:srgbClr val="D8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0000"/>
                        </a:lnSpc>
                      </a:pPr>
                      <a:r>
                        <a:rPr sz="1200" b="0">
                          <a:solidFill>
                            <a:srgbClr val="1D2A3A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95250" marR="0" marT="57150" marB="57150" anchor="ctr">
                    <a:lnB w="12700" cap="flat" cmpd="sng" algn="ctr">
                      <a:solidFill>
                        <a:srgbClr val="D8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0000"/>
                        </a:lnSpc>
                      </a:pPr>
                      <a:r>
                        <a:rPr sz="1425" b="1">
                          <a:solidFill>
                            <a:srgbClr val="1F3A5F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 marL="95250" marR="0" marT="57150" marB="57150" anchor="ctr">
                    <a:lnB w="12700" cap="flat" cmpd="sng" algn="ctr">
                      <a:solidFill>
                        <a:srgbClr val="D8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0000"/>
                        </a:lnSpc>
                      </a:pPr>
                      <a:r>
                        <a:rPr sz="1425" b="1">
                          <a:solidFill>
                            <a:srgbClr val="1F3A5F"/>
                          </a:solidFill>
                          <a:latin typeface="Calibri"/>
                        </a:rPr>
                        <a:t>95%</a:t>
                      </a:r>
                    </a:p>
                  </a:txBody>
                  <a:tcPr marL="95250" marR="0" marT="57150" marB="57150" anchor="ctr">
                    <a:lnB w="12700" cap="flat" cmpd="sng" algn="ctr">
                      <a:solidFill>
                        <a:srgbClr val="D8DE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200" b="1">
                          <a:solidFill>
                            <a:srgbClr val="1D2A3A"/>
                          </a:solidFill>
                          <a:latin typeface="Calibri"/>
                        </a:rPr>
                        <a:t>5 weeks</a:t>
                      </a:r>
                    </a:p>
                  </a:txBody>
                  <a:tcPr marL="0" marR="95250" marT="57150" marB="57150" anchor="ctr">
                    <a:lnB w="12700" cap="flat" cmpd="sng" algn="ctr">
                      <a:solidFill>
                        <a:srgbClr val="D8DEE6"/>
                      </a:solidFill>
                    </a:lnB>
                    <a:solidFill>
                      <a:srgbClr val="FFF7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0000"/>
                        </a:lnSpc>
                      </a:pPr>
                      <a:r>
                        <a:rPr sz="1200" b="1">
                          <a:solidFill>
                            <a:srgbClr val="1D2A3A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95250" marR="0" marT="57150" marB="57150" anchor="ctr">
                    <a:lnB w="12700" cap="flat" cmpd="sng" algn="ctr">
                      <a:solidFill>
                        <a:srgbClr val="D8DEE6"/>
                      </a:solidFill>
                    </a:lnB>
                    <a:solidFill>
                      <a:srgbClr val="FFF7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0000"/>
                        </a:lnSpc>
                      </a:pPr>
                      <a:r>
                        <a:rPr sz="1425" b="1">
                          <a:solidFill>
                            <a:srgbClr val="1F3A5F"/>
                          </a:solidFill>
                          <a:latin typeface="Calibri"/>
                        </a:rPr>
                        <a:t>17%</a:t>
                      </a:r>
                    </a:p>
                  </a:txBody>
                  <a:tcPr marL="95250" marR="0" marT="57150" marB="57150" anchor="ctr">
                    <a:lnB w="12700" cap="flat" cmpd="sng" algn="ctr">
                      <a:solidFill>
                        <a:srgbClr val="D8DEE6"/>
                      </a:solidFill>
                    </a:lnB>
                    <a:solidFill>
                      <a:srgbClr val="FFF7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0000"/>
                        </a:lnSpc>
                      </a:pPr>
                      <a:r>
                        <a:rPr sz="1425" b="1">
                          <a:solidFill>
                            <a:srgbClr val="1F3A5F"/>
                          </a:solidFill>
                          <a:latin typeface="Calibri"/>
                        </a:rPr>
                        <a:t>96%</a:t>
                      </a:r>
                    </a:p>
                  </a:txBody>
                  <a:tcPr marL="95250" marR="0" marT="57150" marB="57150" anchor="ctr">
                    <a:lnB w="12700" cap="flat" cmpd="sng" algn="ctr">
                      <a:solidFill>
                        <a:srgbClr val="D8DEE6"/>
                      </a:solidFill>
                    </a:lnB>
                    <a:solidFill>
                      <a:srgbClr val="FFF7E6"/>
                    </a:solidFill>
                  </a:tcPr>
                </a:tc>
              </a:tr>
              <a:tr h="514350"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200" b="0">
                          <a:solidFill>
                            <a:srgbClr val="1D2A3A"/>
                          </a:solidFill>
                          <a:latin typeface="Calibri"/>
                        </a:rPr>
                        <a:t>10 weeks</a:t>
                      </a:r>
                    </a:p>
                  </a:txBody>
                  <a:tcPr marL="0" marR="95250" marT="57150" marB="57150" anchor="ctr">
                    <a:lnB w="12700" cap="flat" cmpd="sng" algn="ctr">
                      <a:solidFill>
                        <a:srgbClr val="D8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0000"/>
                        </a:lnSpc>
                      </a:pPr>
                      <a:r>
                        <a:rPr sz="1200" b="0">
                          <a:solidFill>
                            <a:srgbClr val="1D2A3A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95250" marR="0" marT="57150" marB="57150" anchor="ctr">
                    <a:lnB w="12700" cap="flat" cmpd="sng" algn="ctr">
                      <a:solidFill>
                        <a:srgbClr val="D8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0000"/>
                        </a:lnSpc>
                      </a:pPr>
                      <a:r>
                        <a:rPr sz="1425" b="1">
                          <a:solidFill>
                            <a:srgbClr val="1F3A5F"/>
                          </a:solidFill>
                          <a:latin typeface="Calibri"/>
                        </a:rPr>
                        <a:t>33%</a:t>
                      </a:r>
                    </a:p>
                  </a:txBody>
                  <a:tcPr marL="95250" marR="0" marT="57150" marB="57150" anchor="ctr">
                    <a:lnB w="12700" cap="flat" cmpd="sng" algn="ctr">
                      <a:solidFill>
                        <a:srgbClr val="D8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0000"/>
                        </a:lnSpc>
                      </a:pPr>
                      <a:r>
                        <a:rPr sz="1425" b="1">
                          <a:solidFill>
                            <a:srgbClr val="1F3A5F"/>
                          </a:solidFill>
                          <a:latin typeface="Calibri"/>
                        </a:rPr>
                        <a:t>93%</a:t>
                      </a:r>
                    </a:p>
                  </a:txBody>
                  <a:tcPr marL="95250" marR="0" marT="57150" marB="57150" anchor="ctr">
                    <a:lnB w="12700" cap="flat" cmpd="sng" algn="ctr">
                      <a:solidFill>
                        <a:srgbClr val="D8DEE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85800" y="4514850"/>
            <a:ext cx="7581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5" b="0">
                <a:solidFill>
                  <a:srgbClr val="1D2A3A"/>
                </a:solidFill>
                <a:latin typeface="Georgia"/>
              </a:rPr>
              <a:t>More weeks, more students reached — and the list stays precise.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48700" y="2209800"/>
            <a:ext cx="28575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648700" y="2209800"/>
            <a:ext cx="2857500" cy="28575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20150" y="2362200"/>
            <a:ext cx="2571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5" b="1" spc="150">
                <a:solidFill>
                  <a:srgbClr val="8A5A00"/>
                </a:solidFill>
                <a:latin typeface="Calibri"/>
              </a:rPr>
              <a:t>THE ASSUMPTION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20150" y="2571750"/>
            <a:ext cx="25527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5" b="0">
                <a:solidFill>
                  <a:srgbClr val="1D2A3A"/>
                </a:solidFill>
                <a:latin typeface="Calibri"/>
              </a:rPr>
              <a:t>10 conversations per adviser-week, over a 5-week window — 50 students from a cohort of 885. Illustrative assumption only.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48700" y="3619500"/>
            <a:ext cx="2857500" cy="990600"/>
          </a:xfrm>
          <a:prstGeom prst="rect">
            <a:avLst/>
          </a:prstGeom>
          <a:solidFill>
            <a:srgbClr val="EEF1F5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20150" y="3771900"/>
            <a:ext cx="2571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5" b="1" spc="150">
                <a:solidFill>
                  <a:srgbClr val="1F3A5F"/>
                </a:solidFill>
                <a:latin typeface="Calibri"/>
              </a:rPr>
              <a:t>DELIBERATELY ABSENT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0150" y="3981450"/>
            <a:ext cx="25527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5" b="0">
                <a:solidFill>
                  <a:srgbClr val="1D2A3A"/>
                </a:solidFill>
                <a:latin typeface="Calibri"/>
              </a:rPr>
              <a:t>No figure here is converted to money. No cost or saving data exists in this project, so none is presented.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6324600"/>
            <a:ext cx="10820400" cy="9525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6438900"/>
            <a:ext cx="108204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7B"/>
                </a:solidFill>
                <a:latin typeface="Consolas"/>
              </a:rPr>
              <a:t>reports/tables/test_recall_precision_at_k.csv · 284 eventual dropouts in the 885-student test cohort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33400"/>
            <a:ext cx="762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spc="170">
                <a:solidFill>
                  <a:srgbClr val="5B6B7B"/>
                </a:solidFill>
                <a:latin typeface="Calibri"/>
              </a:rPr>
              <a:t>SAFEGUARDS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86200" y="533400"/>
            <a:ext cx="762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spc="170">
                <a:solidFill>
                  <a:srgbClr val="5B6B7B"/>
                </a:solidFill>
                <a:latin typeface="Calibri"/>
              </a:rPr>
              <a:t>07 / 10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81050"/>
            <a:ext cx="10820400" cy="1905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04900"/>
            <a:ext cx="108204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700" b="1">
                <a:solidFill>
                  <a:srgbClr val="1F3A5F"/>
                </a:solidFill>
                <a:latin typeface="Georgia"/>
              </a:rPr>
              <a:t>Four safeguards built into the design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866900"/>
            <a:ext cx="52197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866900"/>
            <a:ext cx="28575" cy="1447800"/>
          </a:xfrm>
          <a:prstGeom prst="rect">
            <a:avLst/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57400"/>
            <a:ext cx="476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1F3A5F"/>
                </a:solidFill>
                <a:latin typeface="Calibri"/>
              </a:rPr>
              <a:t>Leakage-safe by construction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381250"/>
            <a:ext cx="476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D2A3A"/>
                </a:solidFill>
                <a:latin typeface="Calibri"/>
              </a:rPr>
              <a:t>Only information available at the prediction point enters the model — the end of semester one. Enforced by tests.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86500" y="1866900"/>
            <a:ext cx="52197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86500" y="1866900"/>
            <a:ext cx="28575" cy="1447800"/>
          </a:xfrm>
          <a:prstGeom prst="rect">
            <a:avLst/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5100" y="2057400"/>
            <a:ext cx="476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1F3A5F"/>
                </a:solidFill>
                <a:latin typeface="Calibri"/>
              </a:rPr>
              <a:t>Sensitive attributes stay out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5100" y="2381250"/>
            <a:ext cx="476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D2A3A"/>
                </a:solidFill>
                <a:latin typeface="Calibri"/>
              </a:rPr>
              <a:t>Never model inputs and never shown as reasons. They are used only to audit outcomes by group. Enforced by tests.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3543300"/>
            <a:ext cx="52197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3543300"/>
            <a:ext cx="28575" cy="1447800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733800"/>
            <a:ext cx="476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1F3A5F"/>
                </a:solidFill>
                <a:latin typeface="Calibri"/>
              </a:rPr>
              <a:t>A human decides, every 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057650"/>
            <a:ext cx="476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D2A3A"/>
                </a:solidFill>
                <a:latin typeface="Calibri"/>
              </a:rPr>
              <a:t>Acknowledgement is required before any action is recorded. Advisers can dismiss or override. Actions stay local and never feed back into the model.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86500" y="3543300"/>
            <a:ext cx="52197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86500" y="3543300"/>
            <a:ext cx="28575" cy="1447800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5100" y="3733800"/>
            <a:ext cx="476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1F3A5F"/>
                </a:solidFill>
                <a:latin typeface="Calibri"/>
              </a:rPr>
              <a:t>A written non-use policy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5100" y="4057650"/>
            <a:ext cx="476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D2A3A"/>
                </a:solidFill>
                <a:latin typeface="Calibri"/>
              </a:rPr>
              <a:t>No automated or adverse decision on admission, enrollment, aid, grades, discipline or housing. Set out in the project constitution.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6324600"/>
            <a:ext cx="10820400" cy="9525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6438900"/>
            <a:ext cx="108204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7B"/>
                </a:solidFill>
                <a:latin typeface="Consolas"/>
              </a:rPr>
              <a:t>.specify/memory/constitution.md · reports/model_card.md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33400"/>
            <a:ext cx="762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spc="170">
                <a:solidFill>
                  <a:srgbClr val="5B6B7B"/>
                </a:solidFill>
                <a:latin typeface="Calibri"/>
              </a:rPr>
              <a:t>WHAT THE FAIRNESS AUDIT FOUND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86200" y="533400"/>
            <a:ext cx="762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spc="170">
                <a:solidFill>
                  <a:srgbClr val="5B6B7B"/>
                </a:solidFill>
                <a:latin typeface="Calibri"/>
              </a:rPr>
              <a:t>08 / 10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81050"/>
            <a:ext cx="10820400" cy="1905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085850"/>
            <a:ext cx="108204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700" b="1">
                <a:solidFill>
                  <a:srgbClr val="1F3A5F"/>
                </a:solidFill>
                <a:latin typeface="Georgia"/>
              </a:rPr>
              <a:t>Younger students who leave are under-reached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76400"/>
          <a:ext cx="10820400" cy="15049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76650"/>
                <a:gridCol w="2705100"/>
                <a:gridCol w="4438650"/>
              </a:tblGrid>
              <a:tr h="476250">
                <a:tc>
                  <a:txBody>
                    <a:bodyPr wrap="square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825" b="1" spc="130">
                          <a:solidFill>
                            <a:srgbClr val="5B6B7B"/>
                          </a:solidFill>
                          <a:latin typeface="Calibri"/>
                        </a:rPr>
                        <a:t>GROUP COMPARISON · HELD-OUT COHORT</a:t>
                      </a:r>
                    </a:p>
                  </a:txBody>
                  <a:tcPr marL="0" marR="95250" marT="57150" marB="57150" anchor="ctr">
                    <a:lnB w="25400" cap="flat" cmpd="sng" algn="ctr">
                      <a:solidFill>
                        <a:srgbClr val="1F3A5F"/>
                      </a:solidFill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825" b="1" spc="130">
                          <a:solidFill>
                            <a:srgbClr val="5B6B7B"/>
                          </a:solidFill>
                          <a:latin typeface="Calibri"/>
                        </a:rPr>
                        <a:t>SELECTION GAP</a:t>
                      </a:r>
                    </a:p>
                  </a:txBody>
                  <a:tcPr marL="0" marR="95250" marT="57150" marB="57150" anchor="ctr">
                    <a:lnB w="25400" cap="flat" cmpd="sng" algn="ctr">
                      <a:solidFill>
                        <a:srgbClr val="1F3A5F"/>
                      </a:solidFill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825" b="1" spc="130">
                          <a:solidFill>
                            <a:srgbClr val="5B6B7B"/>
                          </a:solidFill>
                          <a:latin typeface="Calibri"/>
                        </a:rPr>
                        <a:t>AMONG STUDENTS WHO DID DROP OUT, CHANCE OF BEING ON THE LIST</a:t>
                      </a:r>
                    </a:p>
                  </a:txBody>
                  <a:tcPr marL="0" marR="95250" marT="57150" marB="57150" anchor="ctr">
                    <a:lnB w="25400" cap="flat" cmpd="sng" algn="ctr">
                      <a:solidFill>
                        <a:srgbClr val="1F3A5F"/>
                      </a:solidFill>
                    </a:lnB>
                    <a:solidFill>
                      <a:srgbClr val="FAFBFC"/>
                    </a:solidFill>
                  </a:tcPr>
                </a:tc>
              </a:tr>
              <a:tr h="514350"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275" b="0">
                          <a:solidFill>
                            <a:srgbClr val="1D2A3A"/>
                          </a:solidFill>
                          <a:latin typeface="Calibri"/>
                        </a:rPr>
                        <a:t>Women vs men</a:t>
                      </a:r>
                    </a:p>
                  </a:txBody>
                  <a:tcPr marL="0" marR="95250" marT="57150" marB="57150" anchor="ctr">
                    <a:lnB w="12700" cap="flat" cmpd="sng" algn="ctr">
                      <a:solidFill>
                        <a:srgbClr val="D8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275" b="0">
                          <a:solidFill>
                            <a:srgbClr val="1D2A3A"/>
                          </a:solidFill>
                          <a:latin typeface="Calibri"/>
                        </a:rPr>
                        <a:t>5.0% vs 9.0%</a:t>
                      </a:r>
                    </a:p>
                  </a:txBody>
                  <a:tcPr marL="0" marR="95250" marT="57150" marB="57150" anchor="ctr">
                    <a:lnB w="12700" cap="flat" cmpd="sng" algn="ctr">
                      <a:solidFill>
                        <a:srgbClr val="D8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275" b="0">
                          <a:solidFill>
                            <a:srgbClr val="1D2A3A"/>
                          </a:solidFill>
                          <a:latin typeface="Calibri"/>
                        </a:rPr>
                        <a:t>20% vs 19% — near equal</a:t>
                      </a:r>
                    </a:p>
                  </a:txBody>
                  <a:tcPr marL="0" marR="95250" marT="57150" marB="57150" anchor="ctr">
                    <a:lnB w="12700" cap="flat" cmpd="sng" algn="ctr">
                      <a:solidFill>
                        <a:srgbClr val="D8DE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275" b="1">
                          <a:solidFill>
                            <a:srgbClr val="1D2A3A"/>
                          </a:solidFill>
                          <a:latin typeface="Calibri"/>
                        </a:rPr>
                        <a:t>Age 17–19 vs 35+</a:t>
                      </a:r>
                    </a:p>
                  </a:txBody>
                  <a:tcPr marL="0" marR="95250" marT="57150" marB="57150" anchor="ctr">
                    <a:lnB w="12700" cap="flat" cmpd="sng" algn="ctr">
                      <a:solidFill>
                        <a:srgbClr val="D8DEE6"/>
                      </a:solidFill>
                    </a:lnB>
                    <a:solidFill>
                      <a:srgbClr val="FFF7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275" b="1">
                          <a:solidFill>
                            <a:srgbClr val="1D2A3A"/>
                          </a:solidFill>
                          <a:latin typeface="Calibri"/>
                        </a:rPr>
                        <a:t>2.0% vs 24.7%</a:t>
                      </a:r>
                    </a:p>
                  </a:txBody>
                  <a:tcPr marL="0" marR="95250" marT="57150" marB="57150" anchor="ctr">
                    <a:lnB w="12700" cap="flat" cmpd="sng" algn="ctr">
                      <a:solidFill>
                        <a:srgbClr val="D8DEE6"/>
                      </a:solidFill>
                    </a:lnB>
                    <a:solidFill>
                      <a:srgbClr val="FFF7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1575" b="1">
                          <a:solidFill>
                            <a:srgbClr val="8A5A00"/>
                          </a:solidFill>
                          <a:latin typeface="Calibri"/>
                        </a:rPr>
                        <a:t>10% vs 50%</a:t>
                      </a:r>
                    </a:p>
                  </a:txBody>
                  <a:tcPr marL="0" marR="95250" marT="57150" marB="57150" anchor="ctr">
                    <a:lnB w="12700" cap="flat" cmpd="sng" algn="ctr">
                      <a:solidFill>
                        <a:srgbClr val="D8DEE6"/>
                      </a:solidFill>
                    </a:lnB>
                    <a:solidFill>
                      <a:srgbClr val="FFF7E6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selection_r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429000"/>
            <a:ext cx="4191000" cy="2667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19700" y="3429000"/>
            <a:ext cx="6286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D2A3A"/>
                </a:solidFill>
                <a:latin typeface="Calibri"/>
              </a:rPr>
              <a:t>The list reflects historical patterns in the data. Younger students who leave are under-reached.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5219700" y="4305300"/>
            <a:ext cx="6286500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219700" y="4305300"/>
            <a:ext cx="6286500" cy="28575"/>
          </a:xfrm>
          <a:prstGeom prst="rect">
            <a:avLst/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0200" y="4476750"/>
            <a:ext cx="5905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5" b="1" spc="150">
                <a:solidFill>
                  <a:srgbClr val="2F6F4F"/>
                </a:solidFill>
                <a:latin typeface="Calibri"/>
              </a:rPr>
              <a:t>RECOMMENDED RESPONSE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10200" y="4705350"/>
            <a:ext cx="592455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D2A3A"/>
                </a:solidFill>
                <a:latin typeface="Calibri"/>
              </a:rPr>
              <a:t>An adviser-side rule — reserve part of the outreach list for first-years — rather than a change to the model.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6324600"/>
            <a:ext cx="10820400" cy="9525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6438900"/>
            <a:ext cx="108204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7B"/>
                </a:solidFill>
                <a:latin typeface="Consolas"/>
              </a:rPr>
              <a:t>reports/fairness/group_metrics.csv · reports/fairness/selection_rates.png · full discussion in reports/bias_fairness_analysis.md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33400"/>
            <a:ext cx="762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spc="170">
                <a:solidFill>
                  <a:srgbClr val="5B6B7B"/>
                </a:solidFill>
                <a:latin typeface="Calibri"/>
              </a:rPr>
              <a:t>RISKS AND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86200" y="533400"/>
            <a:ext cx="762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spc="170">
                <a:solidFill>
                  <a:srgbClr val="5B6B7B"/>
                </a:solidFill>
                <a:latin typeface="Calibri"/>
              </a:rPr>
              <a:t>09 / 10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81050"/>
            <a:ext cx="10820400" cy="1905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04900"/>
            <a:ext cx="108204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700" b="1">
                <a:solidFill>
                  <a:srgbClr val="1F3A5F"/>
                </a:solidFill>
                <a:latin typeface="Georgia"/>
              </a:rPr>
              <a:t>Risks, governance, and what a pilot would need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05000"/>
            <a:ext cx="33528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spc="140">
                <a:solidFill>
                  <a:srgbClr val="AA3333"/>
                </a:solidFill>
                <a:latin typeface="Calibri"/>
              </a:rPr>
              <a:t>THE RISKS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152650"/>
            <a:ext cx="3352800" cy="19050"/>
          </a:xfrm>
          <a:prstGeom prst="rect">
            <a:avLst/>
          </a:prstGeom>
          <a:solidFill>
            <a:srgbClr val="AA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324100"/>
            <a:ext cx="33528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25" b="0">
                <a:solidFill>
                  <a:srgbClr val="1D2A3A"/>
                </a:solidFill>
                <a:latin typeface="Calibri"/>
              </a:rPr>
              <a:t>Historical bias in the recorded outcomes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647950"/>
            <a:ext cx="3352800" cy="9525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743200"/>
            <a:ext cx="3352800" cy="628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25" b="0">
                <a:solidFill>
                  <a:srgbClr val="1D2A3A"/>
                </a:solidFill>
                <a:latin typeface="Calibri"/>
              </a:rPr>
              <a:t>Proxy features — parental background, application route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276600"/>
            <a:ext cx="3352800" cy="9525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371850"/>
            <a:ext cx="33528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25" b="0">
                <a:solidFill>
                  <a:srgbClr val="1D2A3A"/>
                </a:solidFill>
                <a:latin typeface="Calibri"/>
              </a:rPr>
              <a:t>Single-institution scope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3695700"/>
            <a:ext cx="3352800" cy="9525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790950"/>
            <a:ext cx="33528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25" b="0">
                <a:solidFill>
                  <a:srgbClr val="1D2A3A"/>
                </a:solidFill>
                <a:latin typeface="Calibri"/>
              </a:rPr>
              <a:t>Small subgroups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114800"/>
            <a:ext cx="3352800" cy="9525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210050"/>
            <a:ext cx="3352800" cy="628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25" b="0">
                <a:solidFill>
                  <a:srgbClr val="1D2A3A"/>
                </a:solidFill>
                <a:latin typeface="Calibri"/>
              </a:rPr>
              <a:t>Feedback loops, if the model were ever retrained on outreach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9600" y="1905000"/>
            <a:ext cx="33528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spc="140">
                <a:solidFill>
                  <a:srgbClr val="2F6F4F"/>
                </a:solidFill>
                <a:latin typeface="Calibri"/>
              </a:rPr>
              <a:t>ALREADY IN PLACE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19600" y="2152650"/>
            <a:ext cx="3352800" cy="19050"/>
          </a:xfrm>
          <a:prstGeom prst="rect">
            <a:avLst/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19600" y="2324100"/>
            <a:ext cx="33528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25" b="0">
                <a:solidFill>
                  <a:srgbClr val="1D2A3A"/>
                </a:solidFill>
                <a:latin typeface="Calibri"/>
              </a:rPr>
              <a:t>A written constitution and a model card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19600" y="2647950"/>
            <a:ext cx="3352800" cy="9525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19600" y="2743200"/>
            <a:ext cx="3352800" cy="628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25" b="0">
                <a:solidFill>
                  <a:srgbClr val="1D2A3A"/>
                </a:solidFill>
                <a:latin typeface="Calibri"/>
              </a:rPr>
              <a:t>A published fairness audit and a limitations statement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19600" y="3276600"/>
            <a:ext cx="3352800" cy="9525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19600" y="3371850"/>
            <a:ext cx="3352800" cy="628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25" b="0">
                <a:solidFill>
                  <a:srgbClr val="1D2A3A"/>
                </a:solidFill>
                <a:latin typeface="Calibri"/>
              </a:rPr>
              <a:t>A reproducible pipeline — a fresh-environment re-run gives zero deltas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19600" y="3905250"/>
            <a:ext cx="3352800" cy="9525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19600" y="4000500"/>
            <a:ext cx="3352800" cy="628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25" b="0">
                <a:solidFill>
                  <a:srgbClr val="1D2A3A"/>
                </a:solidFill>
                <a:latin typeface="Calibri"/>
              </a:rPr>
              <a:t>CI on every change, and a version-checked artifact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19600" y="4533900"/>
            <a:ext cx="3352800" cy="9525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19600" y="4629150"/>
            <a:ext cx="33528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25" b="0">
                <a:solidFill>
                  <a:srgbClr val="1D2A3A"/>
                </a:solidFill>
                <a:latin typeface="Calibri"/>
              </a:rPr>
              <a:t>A local action log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53400" y="1905000"/>
            <a:ext cx="33528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spc="140">
                <a:solidFill>
                  <a:srgbClr val="1F3A5F"/>
                </a:solidFill>
                <a:latin typeface="Calibri"/>
              </a:rPr>
              <a:t>WHAT A PILOT WOULD NEED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53400" y="2152650"/>
            <a:ext cx="3352800" cy="1905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53400" y="2324100"/>
            <a:ext cx="33528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25" b="0">
                <a:solidFill>
                  <a:srgbClr val="1D2A3A"/>
                </a:solidFill>
                <a:latin typeface="Calibri"/>
              </a:rPr>
              <a:t>Institutional approval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53400" y="2647950"/>
            <a:ext cx="3352800" cy="9525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53400" y="2743200"/>
            <a:ext cx="33528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25" b="0">
                <a:solidFill>
                  <a:srgbClr val="1D2A3A"/>
                </a:solidFill>
                <a:latin typeface="Calibri"/>
              </a:rPr>
              <a:t>A local data agreement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53400" y="3067050"/>
            <a:ext cx="3352800" cy="9525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53400" y="3162300"/>
            <a:ext cx="33528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25" b="0">
                <a:solidFill>
                  <a:srgbClr val="1D2A3A"/>
                </a:solidFill>
                <a:latin typeface="Calibri"/>
              </a:rPr>
              <a:t>Re-training and a fresh audit on local data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53400" y="3486150"/>
            <a:ext cx="3352800" cy="9525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53400" y="3581400"/>
            <a:ext cx="33528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25" b="0">
                <a:solidFill>
                  <a:srgbClr val="1D2A3A"/>
                </a:solidFill>
                <a:latin typeface="Calibri"/>
              </a:rPr>
              <a:t>Adviser training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153400" y="3905250"/>
            <a:ext cx="3352800" cy="9525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53400" y="4000500"/>
            <a:ext cx="3352800" cy="628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25" b="0">
                <a:solidFill>
                  <a:srgbClr val="1D2A3A"/>
                </a:solidFill>
                <a:latin typeface="Calibri"/>
              </a:rPr>
              <a:t>A standing review cadence for the Equity Dashboard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5800" y="6324600"/>
            <a:ext cx="10820400" cy="9525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6438900"/>
            <a:ext cx="108204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7B"/>
                </a:solidFill>
                <a:latin typeface="Consolas"/>
              </a:rPr>
              <a:t>reports/limitations.md · reports/model_card.md · .specify/memory/constitution.md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33400"/>
            <a:ext cx="762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spc="170">
                <a:solidFill>
                  <a:srgbClr val="5B6B7B"/>
                </a:solidFill>
                <a:latin typeface="Calibri"/>
              </a:rPr>
              <a:t>NEXT STEPS AND THE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86200" y="533400"/>
            <a:ext cx="762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spc="170">
                <a:solidFill>
                  <a:srgbClr val="5B6B7B"/>
                </a:solidFill>
                <a:latin typeface="Calibri"/>
              </a:rPr>
              <a:t>10 / 10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81050"/>
            <a:ext cx="10820400" cy="1905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04900"/>
            <a:ext cx="108204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700" b="1">
                <a:solidFill>
                  <a:srgbClr val="1F3A5F"/>
                </a:solidFill>
                <a:latin typeface="Georgia"/>
              </a:rPr>
              <a:t>Three decisions before any local build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850"/>
            <a:ext cx="571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50" b="1">
                <a:solidFill>
                  <a:srgbClr val="B7791F"/>
                </a:solidFill>
                <a:latin typeface="Georgia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4450" y="1828800"/>
            <a:ext cx="1019175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25" b="1">
                <a:solidFill>
                  <a:srgbClr val="1F3A5F"/>
                </a:solidFill>
                <a:latin typeface="Calibri"/>
              </a:rPr>
              <a:t>Decide whether to pilot with local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14450" y="2114550"/>
            <a:ext cx="10096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D2A3A"/>
                </a:solidFill>
                <a:latin typeface="Calibri"/>
              </a:rPr>
              <a:t>Under the governance set out on the previous slide — nothing here is a deployment decision.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571750"/>
            <a:ext cx="10820400" cy="9525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724150"/>
            <a:ext cx="571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50" b="1">
                <a:solidFill>
                  <a:srgbClr val="B7791F"/>
                </a:solidFill>
                <a:latin typeface="Georgia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14450" y="2705100"/>
            <a:ext cx="1019175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25" b="1">
                <a:solidFill>
                  <a:srgbClr val="1F3A5F"/>
                </a:solidFill>
                <a:latin typeface="Calibri"/>
              </a:rPr>
              <a:t>Resolve the open data question with the data owner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14450" y="2990850"/>
            <a:ext cx="10096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D2A3A"/>
                </a:solidFill>
                <a:latin typeface="Calibri"/>
              </a:rPr>
              <a:t>The timing of the financial-status fields is unclear, so they are excluded today. That must be settled before any local build.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3448050"/>
            <a:ext cx="10820400" cy="9525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600450"/>
            <a:ext cx="571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50" b="1">
                <a:solidFill>
                  <a:srgbClr val="B7791F"/>
                </a:solidFill>
                <a:latin typeface="Georgia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14450" y="3581400"/>
            <a:ext cx="1019175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25" b="1">
                <a:solidFill>
                  <a:srgbClr val="1F3A5F"/>
                </a:solidFill>
                <a:latin typeface="Calibri"/>
              </a:rPr>
              <a:t>Design the pilot to measure what this project cannot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14450" y="3867150"/>
            <a:ext cx="10096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D2A3A"/>
                </a:solidFill>
                <a:latin typeface="Calibri"/>
              </a:rPr>
              <a:t>Whether outreach changes outcomes — the model does not show this — and how the list's composition by group moves each cycle.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4610100"/>
            <a:ext cx="10820400" cy="12192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4400" y="4876800"/>
            <a:ext cx="19050" cy="685800"/>
          </a:xfrm>
          <a:prstGeom prst="rect">
            <a:avLst/>
          </a:prstGeom>
          <a:solidFill>
            <a:srgbClr val="E0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23950" y="4857750"/>
            <a:ext cx="2857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5" b="1" spc="180">
                <a:solidFill>
                  <a:srgbClr val="FFD98A"/>
                </a:solidFill>
                <a:latin typeface="Calibri"/>
              </a:rPr>
              <a:t>THE ASK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3950" y="5105400"/>
            <a:ext cx="1000125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75" b="0">
                <a:solidFill>
                  <a:srgbClr val="FFFFFF"/>
                </a:solidFill>
                <a:latin typeface="Georgia"/>
              </a:rPr>
              <a:t>Sponsorship for a time-boxed pilot with an equity review checkpoint — not a deployment decision.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6324600"/>
            <a:ext cx="10820400" cy="9525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6438900"/>
            <a:ext cx="108204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7B"/>
                </a:solidFill>
                <a:latin typeface="Consolas"/>
              </a:rPr>
              <a:t>reports/final_report.md · reports/model_card.md · model version 1.0.0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