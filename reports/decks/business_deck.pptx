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7"/>
    <p:restoredTop sz="94646"/>
  </p:normalViewPr>
  <p:slideViewPr>
    <p:cSldViewPr snapToGrid="0" snapToObjects="1">
      <p:cViewPr varScale="1">
        <p:scale>
          <a:sx n="146" d="100"/>
          <a:sy n="146" d="100"/>
        </p:scale>
        <p:origin x="168" y="1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876300"/>
            <a:ext cx="533400" cy="28575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5900" y="828675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spc="200">
                <a:solidFill>
                  <a:srgbClr val="B8C6D8"/>
                </a:solidFill>
                <a:latin typeface="Calibri"/>
              </a:rPr>
              <a:t>DECISION-SUPPORT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47800"/>
            <a:ext cx="9144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700" b="0">
                <a:solidFill>
                  <a:srgbClr val="FFFFFF"/>
                </a:solidFill>
                <a:latin typeface="Georgia"/>
              </a:rPr>
              <a:t>Student Success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432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50" b="0">
                <a:solidFill>
                  <a:srgbClr val="D6E0EC"/>
                </a:solidFill>
                <a:latin typeface="Georgia"/>
              </a:rPr>
              <a:t>Earlier, fairer, supportive outreach after the first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114800"/>
            <a:ext cx="7429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75" b="0">
                <a:solidFill>
                  <a:srgbClr val="B8C6D8"/>
                </a:solidFill>
                <a:latin typeface="Calibri"/>
              </a:rPr>
              <a:t>A decision-support prototype built on one institution's public data (UCI, CC BY 4.0) — illustrative, not deployed.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6096000"/>
            <a:ext cx="10515600" cy="9525"/>
          </a:xfrm>
          <a:prstGeom prst="rect">
            <a:avLst/>
          </a:prstGeom>
          <a:solidFill>
            <a:srgbClr val="3A5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200" y="6248400"/>
            <a:ext cx="571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>
                <a:solidFill>
                  <a:srgbClr val="B8C6D8"/>
                </a:solidFill>
                <a:latin typeface="Consolas"/>
              </a:rPr>
              <a:t>model version 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6248400"/>
            <a:ext cx="571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0">
                <a:solidFill>
                  <a:srgbClr val="B8C6D8"/>
                </a:solidFill>
                <a:latin typeface="Consolas"/>
              </a:rPr>
              <a:t>reports/model_card.md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04900"/>
            <a:ext cx="9525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>
                <a:solidFill>
                  <a:srgbClr val="1F3A5F"/>
                </a:solidFill>
                <a:latin typeface="Georgia"/>
              </a:rPr>
              <a:t>Many students who leave show academic warning signs in their first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43150"/>
            <a:ext cx="4953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50" b="1">
                <a:solidFill>
                  <a:srgbClr val="1F3A5F"/>
                </a:solidFill>
                <a:latin typeface="Georgia"/>
              </a:rPr>
              <a:t>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4700"/>
            <a:ext cx="4476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D2A3A"/>
                </a:solidFill>
                <a:latin typeface="Calibri"/>
              </a:rPr>
              <a:t>of students in the historical dataset did not complete — 1,421 of 4,424.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38600"/>
            <a:ext cx="2133600" cy="247650"/>
          </a:xfrm>
          <a:prstGeom prst="rect">
            <a:avLst/>
          </a:prstGeom>
          <a:solidFill>
            <a:srgbClr val="EEF1F5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" y="4105275"/>
            <a:ext cx="2000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30">
                <a:solidFill>
                  <a:srgbClr val="5B6B7B"/>
                </a:solidFill>
                <a:latin typeface="Calibri"/>
              </a:rPr>
              <a:t>MEASURED · THIS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2343150"/>
            <a:ext cx="19050" cy="22479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8400" y="2343150"/>
            <a:ext cx="52578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25" b="0">
                <a:solidFill>
                  <a:srgbClr val="1D2A3A"/>
                </a:solidFill>
                <a:latin typeface="Calibri"/>
              </a:rPr>
              <a:t>Advisers have limited time to reach them. The opportunity is to prioritise voluntary, supportive conversations with the students most likely to benefit — within advisers' existing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3695700"/>
            <a:ext cx="5257800" cy="895350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8400" y="3695700"/>
            <a:ext cx="38100" cy="89535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8900" y="3848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8A5A00"/>
                </a:solidFill>
                <a:latin typeface="Calibri"/>
              </a:rPr>
              <a:t>WHAT THIS DECK DOES NOT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4076700"/>
            <a:ext cx="48768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That outreach reduces dropout. That is the hypothesis a pilot would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reports/tables/profile_target.csv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HOW IT WOULD BE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0490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The adviser stays the decision-maker at every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14500"/>
            <a:ext cx="1981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14500"/>
            <a:ext cx="1981200" cy="28575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1847850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5B6B7B"/>
                </a:solidFill>
                <a:latin typeface="Calibri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038350"/>
            <a:ext cx="1714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2A3A"/>
                </a:solidFill>
                <a:latin typeface="Calibri"/>
              </a:rPr>
              <a:t>End of semester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2057400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9AA8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5600" y="1714500"/>
            <a:ext cx="1981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5600" y="1714500"/>
            <a:ext cx="1981200" cy="28575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8950" y="1847850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4C72B0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950" y="2038350"/>
            <a:ext cx="1714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2A3A"/>
                </a:solidFill>
                <a:latin typeface="Calibri"/>
              </a:rPr>
              <a:t>Support-priority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0" y="2057400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9AA8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5400" y="1714500"/>
            <a:ext cx="1981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05400" y="1714500"/>
            <a:ext cx="1981200" cy="28575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8750" y="1847850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4C72B0"/>
                </a:solidFill>
                <a:latin typeface="Calibri"/>
              </a:rPr>
              <a:t>SHORTLIST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2038350"/>
            <a:ext cx="1714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2A3A"/>
                </a:solidFill>
                <a:latin typeface="Calibri"/>
              </a:rPr>
              <a:t>Support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2400300"/>
            <a:ext cx="1714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>
                <a:solidFill>
                  <a:srgbClr val="5B6B7B"/>
                </a:solidFill>
                <a:latin typeface="Calibri"/>
              </a:rPr>
              <a:t>top-K list, supportive bands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057400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9AA8B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714500"/>
            <a:ext cx="1981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1714500"/>
            <a:ext cx="1981200" cy="28575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8550" y="1847850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B7791F"/>
                </a:solidFill>
                <a:latin typeface="Calibri"/>
              </a:rPr>
              <a:t>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8550" y="2038350"/>
            <a:ext cx="1714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2A3A"/>
                </a:solidFill>
                <a:latin typeface="Calibri"/>
              </a:rPr>
              <a:t>Adviser reviews each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6400" y="2057400"/>
            <a:ext cx="228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9AA8B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5000" y="1714500"/>
            <a:ext cx="1981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25000" y="1714500"/>
            <a:ext cx="1981200" cy="28575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58350" y="1847850"/>
            <a:ext cx="171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B7791F"/>
                </a:solidFill>
                <a:latin typeface="Calibri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8350" y="2038350"/>
            <a:ext cx="1714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D2A3A"/>
                </a:solidFill>
                <a:latin typeface="Calibri"/>
              </a:rPr>
              <a:t>Conversation, referral or dismiss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2857500"/>
            <a:ext cx="10820400" cy="438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6300" y="2990850"/>
            <a:ext cx="10439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The decision is recorded locally — </a:t>
            </a:r>
            <a:r>
              <a:rPr sz="1200" b="1">
                <a:solidFill>
                  <a:srgbClr val="FFD98A"/>
                </a:solidFill>
                <a:latin typeface="Calibri"/>
              </a:rPr>
              <a:t>nothing feeds back into the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676650"/>
            <a:ext cx="3352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2F6F4F"/>
                </a:solidFill>
                <a:latin typeface="Calibri"/>
              </a:rPr>
              <a:t>SAFEGUARD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905250"/>
            <a:ext cx="33528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Human acknowledgement is required before any action is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676650"/>
            <a:ext cx="3352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2F6F4F"/>
                </a:solidFill>
                <a:latin typeface="Calibri"/>
              </a:rPr>
              <a:t>SAFEGUARD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905250"/>
            <a:ext cx="33528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No student identifiers and no outcome labels are shown to advisers.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676650"/>
            <a:ext cx="3352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2F6F4F"/>
                </a:solidFill>
                <a:latin typeface="Calibri"/>
              </a:rPr>
              <a:t>SAFEGUARD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905250"/>
            <a:ext cx="33528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Neutral academic language only.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specs/001-dropout-risk-navigator/contracts/app-pages.md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WHAT THE SCORE IS MADE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85850"/>
            <a:ext cx="9525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The score reflects how the first semester went, not who the student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0750"/>
            <a:ext cx="666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5B6B7B"/>
                </a:solidFill>
                <a:latin typeface="Calibri"/>
              </a:rPr>
              <a:t>WHAT GOES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00300"/>
            <a:ext cx="704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0">
                <a:solidFill>
                  <a:srgbClr val="1D2A3A"/>
                </a:solidFill>
                <a:latin typeface="Calibri"/>
              </a:rPr>
              <a:t>Enrollment details and first-semester results only — 21 columns plus 7 derived indicators, such as the share of first-semester units passed.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666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4C72B0"/>
                </a:solidFill>
                <a:latin typeface="Calibri"/>
              </a:rPr>
              <a:t>TOP DRIVERS · MEASURED, SHAP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48050"/>
            <a:ext cx="285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8B8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438525"/>
            <a:ext cx="6286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A3A"/>
                </a:solidFill>
                <a:latin typeface="Calibri"/>
              </a:rPr>
              <a:t>sem1_approval_rate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70485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33800"/>
            <a:ext cx="285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8B8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24275"/>
            <a:ext cx="6286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A3A"/>
                </a:solidFill>
                <a:latin typeface="Calibri"/>
              </a:rPr>
              <a:t>Curricular units 1st sem (approved)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43350"/>
            <a:ext cx="70485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19550"/>
            <a:ext cx="285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8B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010025"/>
            <a:ext cx="6286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A3A"/>
                </a:solidFill>
                <a:latin typeface="Calibri"/>
              </a:rPr>
              <a:t>Curricular units 1st sem (grade)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29100"/>
            <a:ext cx="70485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305300"/>
            <a:ext cx="285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8B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4295775"/>
            <a:ext cx="6286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A3A"/>
                </a:solidFill>
                <a:latin typeface="Calibri"/>
              </a:rPr>
              <a:t>grade_diff_vs_admission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24400"/>
            <a:ext cx="7048500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250" y="4876800"/>
            <a:ext cx="666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1F3A5F"/>
                </a:solidFill>
                <a:latin typeface="Calibri"/>
              </a:rPr>
              <a:t>NEVER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5086350"/>
            <a:ext cx="6724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Anything from the second semester · financial-status flags with unclear timing · gender, age, nationality, marital status, international status, special needs.</a:t>
            </a:r>
          </a:p>
        </p:txBody>
      </p:sp>
      <p:pic>
        <p:nvPicPr>
          <p:cNvPr id="23" name="Picture 22" descr="shap_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2190750"/>
            <a:ext cx="3238500" cy="344090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67700" y="5753100"/>
            <a:ext cx="3238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6B7B"/>
                </a:solidFill>
                <a:latin typeface="Calibri"/>
              </a:rPr>
              <a:t>Full ranking: shap_global_importance.csv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reports/explainability/shap_global_importance.csv · reports/explainability/shap_global_bar.png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MEASURED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8585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Held-out test cohort, evaluated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40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>
                <a:solidFill>
                  <a:srgbClr val="5B6B7B"/>
                </a:solidFill>
                <a:latin typeface="Calibri"/>
              </a:rPr>
              <a:t>885 students · 284 of them eventually dropped 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05000"/>
          <a:ext cx="6400800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5B6B7B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1F3A5F"/>
                          </a:solidFill>
                          <a:latin typeface="Calibri"/>
                        </a:rPr>
                        <a:t>FINAL MODEL</a:t>
                      </a:r>
                    </a:p>
                  </a:txBody>
                  <a:tcPr marL="95250" marR="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5B6B7B"/>
                          </a:solidFill>
                          <a:latin typeface="Calibri"/>
                        </a:rPr>
                        <a:t>CHANCE BASELINE</a:t>
                      </a:r>
                    </a:p>
                  </a:txBody>
                  <a:tcPr marL="95250" marR="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25" b="0">
                          <a:solidFill>
                            <a:srgbClr val="1D2A3A"/>
                          </a:solidFill>
                          <a:latin typeface="Calibri"/>
                        </a:rPr>
                        <a:t>Ranking quality (PR-AUC)</a:t>
                      </a:r>
                    </a:p>
                  </a:txBody>
                  <a:tcPr marL="0" marR="9525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650" b="1">
                          <a:solidFill>
                            <a:srgbClr val="1F3A5F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95250" marR="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5B6B7B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95250" marR="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25" b="0">
                          <a:solidFill>
                            <a:srgbClr val="1D2A3A"/>
                          </a:solidFill>
                          <a:latin typeface="Calibri"/>
                        </a:rPr>
                        <a:t>Of a top-50 list, later dropped out (Precision@K)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650" b="1">
                          <a:solidFill>
                            <a:srgbClr val="1F3A5F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5B6B7B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125" b="0">
                          <a:solidFill>
                            <a:srgbClr val="1D2A3A"/>
                          </a:solidFill>
                          <a:latin typeface="Calibri"/>
                        </a:rPr>
                        <a:t>Calibration error (lower is better)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650" b="1">
                          <a:solidFill>
                            <a:srgbClr val="1F3A5F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5B6B7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3924300"/>
            <a:ext cx="28575" cy="7239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3924300"/>
            <a:ext cx="55435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D2A3A"/>
                </a:solidFill>
                <a:latin typeface="Georgia"/>
              </a:rPr>
              <a:t>When the model puts a student on a 50-person list, about 96 in 100 later dropped out. For a random list it would be about 42 in 100.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76800"/>
            <a:ext cx="6400800" cy="533400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876800"/>
            <a:ext cx="38100" cy="53340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250" y="50292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Measured on one institution's historical data. A local pilot must re-measure.</a:t>
            </a:r>
          </a:p>
        </p:txBody>
      </p:sp>
      <p:pic>
        <p:nvPicPr>
          <p:cNvPr id="13" name="Picture 12" descr="test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1905000"/>
            <a:ext cx="4000500" cy="31432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reports/tables/test_metrics_all_models.csv · reports/figures/test_pr_curve.png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OUTREACH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66800"/>
            <a:ext cx="2209800" cy="285750"/>
          </a:xfrm>
          <a:prstGeom prst="rect">
            <a:avLst/>
          </a:prstGeom>
          <a:solidFill>
            <a:srgbClr val="FFF7E6"/>
          </a:solidFill>
          <a:ln w="9525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1143000"/>
            <a:ext cx="2000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80">
                <a:solidFill>
                  <a:srgbClr val="8A5A00"/>
                </a:solidFill>
                <a:latin typeface="Calibri"/>
              </a:rPr>
              <a:t>ILLUSTRATIVE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7050" y="1152525"/>
            <a:ext cx="84391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B6B7B"/>
                </a:solidFill>
                <a:latin typeface="Calibri"/>
              </a:rPr>
              <a:t>The two columns on the right are measured; the window and the number contacted are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4305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Reach is limited by adviser time, not by the model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209800"/>
          <a:ext cx="7581900" cy="2097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8A5A00"/>
                          </a:solidFill>
                          <a:latin typeface="Calibri"/>
                        </a:rPr>
                        <a:t>OUTREACH WINDOW</a:t>
                      </a:r>
                    </a:p>
                    <a:p>
                      <a:pPr algn="l"/>
                      <a:r>
                        <a:rPr sz="825">
                          <a:solidFill>
                            <a:srgbClr val="8A5A00"/>
                          </a:solidFill>
                          <a:latin typeface="Calibri"/>
                        </a:rPr>
                        <a:t>illustrative</a:t>
                      </a:r>
                    </a:p>
                  </a:txBody>
                  <a:tcPr marL="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8A5A00"/>
                          </a:solidFill>
                          <a:latin typeface="Calibri"/>
                        </a:rPr>
                        <a:t>STUDENTS CONTACTED</a:t>
                      </a:r>
                    </a:p>
                    <a:p>
                      <a:pPr algn="r"/>
                      <a:r>
                        <a:rPr sz="825">
                          <a:solidFill>
                            <a:srgbClr val="8A5A00"/>
                          </a:solidFill>
                          <a:latin typeface="Calibri"/>
                        </a:rPr>
                        <a:t>illustrative</a:t>
                      </a:r>
                    </a:p>
                  </a:txBody>
                  <a:tcPr marL="95250" marR="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1F3A5F"/>
                          </a:solidFill>
                          <a:latin typeface="Calibri"/>
                        </a:rPr>
                        <a:t>SHARE OF EVENTUAL DROPOUTS REACHED</a:t>
                      </a:r>
                    </a:p>
                    <a:p>
                      <a:pPr algn="r"/>
                      <a:r>
                        <a:rPr sz="825">
                          <a:solidFill>
                            <a:srgbClr val="1F3A5F"/>
                          </a:solidFill>
                          <a:latin typeface="Calibri"/>
                        </a:rPr>
                        <a:t>measured recall</a:t>
                      </a:r>
                    </a:p>
                  </a:txBody>
                  <a:tcPr marL="95250" marR="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1F3A5F"/>
                          </a:solidFill>
                          <a:latin typeface="Calibri"/>
                        </a:rPr>
                        <a:t>CONTACTED WHO DID DROP OUT</a:t>
                      </a:r>
                    </a:p>
                    <a:p>
                      <a:pPr algn="r"/>
                      <a:r>
                        <a:rPr sz="825">
                          <a:solidFill>
                            <a:srgbClr val="1F3A5F"/>
                          </a:solidFill>
                          <a:latin typeface="Calibri"/>
                        </a:rPr>
                        <a:t>measured precision</a:t>
                      </a:r>
                    </a:p>
                  </a:txBody>
                  <a:tcPr marL="95250" marR="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D2A3A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 marL="0" marR="9525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D2A3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5250" marR="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95250" marR="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95250" marR="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D2A3A"/>
                          </a:solidFill>
                          <a:latin typeface="Calibri"/>
                        </a:rPr>
                        <a:t>5 weeks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1D2A3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D2A3A"/>
                          </a:solidFill>
                          <a:latin typeface="Calibri"/>
                        </a:rPr>
                        <a:t>10 weeks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1D2A3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0000"/>
                        </a:lnSpc>
                      </a:pPr>
                      <a:r>
                        <a:rPr sz="1425" b="1">
                          <a:solidFill>
                            <a:srgbClr val="1F3A5F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L="95250" marR="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4514850"/>
            <a:ext cx="7581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D2A3A"/>
                </a:solidFill>
                <a:latin typeface="Georgia"/>
              </a:rPr>
              <a:t>More weeks, more students reached — and the list stays precise.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8700" y="2209800"/>
            <a:ext cx="2857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8700" y="2209800"/>
            <a:ext cx="2857500" cy="28575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0150" y="2362200"/>
            <a:ext cx="2571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8A5A00"/>
                </a:solidFill>
                <a:latin typeface="Calibri"/>
              </a:rPr>
              <a:t>THE ASSUMPTION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0150" y="2571750"/>
            <a:ext cx="25527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10 conversations per adviser-week, over a 5-week window — 50 students from a cohort of 885. Illustrative assumption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8700" y="3619500"/>
            <a:ext cx="2857500" cy="1238250"/>
          </a:xfrm>
          <a:prstGeom prst="rect">
            <a:avLst/>
          </a:prstGeom>
          <a:solidFill>
            <a:srgbClr val="EEF1F5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0150" y="3771900"/>
            <a:ext cx="2571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1F3A5F"/>
                </a:solidFill>
                <a:latin typeface="Calibri"/>
              </a:rPr>
              <a:t>DELIBERATELY ABSENT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0150" y="3981450"/>
            <a:ext cx="25527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No figure here is converted to money. No cost or saving data exists in this project, so none is presented.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reports/tables/test_recall_precision_at_k.csv · 284 eventual dropouts in the 885-student test cohort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0490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Four safeguards built into the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66900"/>
            <a:ext cx="52197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66900"/>
            <a:ext cx="28575" cy="144780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Calibri"/>
              </a:rPr>
              <a:t>Leakage-safe by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1250"/>
            <a:ext cx="476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Only information available at the prediction point enters the model — the end of semester one. Enforced by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866900"/>
            <a:ext cx="52197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6500" y="1866900"/>
            <a:ext cx="28575" cy="144780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5100" y="20574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Calibri"/>
              </a:rPr>
              <a:t>Sensitive attributes stay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381250"/>
            <a:ext cx="476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Never model inputs and never shown as reasons. They are used only to audit outcomes by group. Enforced by tests.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43300"/>
            <a:ext cx="52197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43300"/>
            <a:ext cx="28575" cy="1447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338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Calibri"/>
              </a:rPr>
              <a:t>A human decides,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7650"/>
            <a:ext cx="476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Acknowledgement is required before any action is recorded. Advisers can dismiss or override. Actions stay local and never feed back into the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6500" y="3543300"/>
            <a:ext cx="52197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6500" y="3543300"/>
            <a:ext cx="28575" cy="1447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5100" y="37338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Calibri"/>
              </a:rPr>
              <a:t>A written non-use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057650"/>
            <a:ext cx="476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No automated or adverse decision on admission, enrollment, aid, grades, discipline or housing. Set out in the project constitution.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.specify/memory/constitution.md · reports/model_card.md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WHAT THE FAIRNESS AUDIT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8585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Younger students who leave are under-reached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76400"/>
          <a:ext cx="10820400" cy="1504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5B6B7B"/>
                          </a:solidFill>
                          <a:latin typeface="Calibri"/>
                        </a:rPr>
                        <a:t>GROUP COMPARISON · HELD-OUT COHORT</a:t>
                      </a:r>
                    </a:p>
                  </a:txBody>
                  <a:tcPr marL="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5B6B7B"/>
                          </a:solidFill>
                          <a:latin typeface="Calibri"/>
                        </a:rPr>
                        <a:t>SELECTION GAP</a:t>
                      </a:r>
                    </a:p>
                  </a:txBody>
                  <a:tcPr marL="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25" b="1" spc="130">
                          <a:solidFill>
                            <a:srgbClr val="5B6B7B"/>
                          </a:solidFill>
                          <a:latin typeface="Calibri"/>
                        </a:rPr>
                        <a:t>AMONG STUDENTS WHO DID DROP OUT, CHANCE OF BEING ON THE LIST</a:t>
                      </a:r>
                    </a:p>
                  </a:txBody>
                  <a:tcPr marL="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75" b="0">
                          <a:solidFill>
                            <a:srgbClr val="1D2A3A"/>
                          </a:solidFill>
                          <a:latin typeface="Calibri"/>
                        </a:rPr>
                        <a:t>Women vs men</a:t>
                      </a:r>
                    </a:p>
                  </a:txBody>
                  <a:tcPr marL="0" marR="9525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75" b="0">
                          <a:solidFill>
                            <a:srgbClr val="1D2A3A"/>
                          </a:solidFill>
                          <a:latin typeface="Calibri"/>
                        </a:rPr>
                        <a:t>5.0% vs 9.0%</a:t>
                      </a:r>
                    </a:p>
                  </a:txBody>
                  <a:tcPr marL="0" marR="9525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75" b="0">
                          <a:solidFill>
                            <a:srgbClr val="1D2A3A"/>
                          </a:solidFill>
                          <a:latin typeface="Calibri"/>
                        </a:rPr>
                        <a:t>20% vs 19% — near equal</a:t>
                      </a:r>
                    </a:p>
                  </a:txBody>
                  <a:tcPr marL="0" marR="95250" marT="57150" marB="57150" anchor="ctr">
                    <a:lnT w="2540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75" b="1">
                          <a:solidFill>
                            <a:srgbClr val="1D2A3A"/>
                          </a:solidFill>
                          <a:latin typeface="Calibri"/>
                        </a:rPr>
                        <a:t>Age 17–19 vs 35+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75" b="1">
                          <a:solidFill>
                            <a:srgbClr val="1D2A3A"/>
                          </a:solidFill>
                          <a:latin typeface="Calibri"/>
                        </a:rPr>
                        <a:t>2.0% vs 24.7%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575" b="1">
                          <a:solidFill>
                            <a:srgbClr val="8A5A00"/>
                          </a:solidFill>
                          <a:latin typeface="Calibri"/>
                        </a:rPr>
                        <a:t>10% vs 50%</a:t>
                      </a:r>
                    </a:p>
                  </a:txBody>
                  <a:tcPr marL="0" marR="95250" marT="57150" marB="57150" anchor="ctr"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select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4191000" cy="266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9700" y="3429000"/>
            <a:ext cx="6286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D2A3A"/>
                </a:solidFill>
                <a:latin typeface="Calibri"/>
              </a:rPr>
              <a:t>The list reflects historical patterns in the data. Younger students who leave are under-reached.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9700" y="4305300"/>
            <a:ext cx="628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9700" y="4305300"/>
            <a:ext cx="6286500" cy="28575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0200" y="4476750"/>
            <a:ext cx="5905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50">
                <a:solidFill>
                  <a:srgbClr val="2F6F4F"/>
                </a:solidFill>
                <a:latin typeface="Calibri"/>
              </a:rPr>
              <a:t>RECOMMENDED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4705350"/>
            <a:ext cx="59245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An adviser-side rule — reserve part of the outreach list for first-years — rather than a change to the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reports/fairness/group_metrics.csv · reports/fairness/selection_rates.png · full discussion in reports/bias_fairness_analysis.md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RISKS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0490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Risks, governance, and what a pilot would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05000"/>
            <a:ext cx="335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AA3333"/>
                </a:solidFill>
                <a:latin typeface="Calibri"/>
              </a:rPr>
              <a:t>THE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52650"/>
            <a:ext cx="3352800" cy="19050"/>
          </a:xfrm>
          <a:prstGeom prst="rect">
            <a:avLst/>
          </a:prstGeom>
          <a:solidFill>
            <a:srgbClr val="AA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241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Historical bias in the recorded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79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Proxy features — parental background, application 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7660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7185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Single-institution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9570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9095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Small subgroups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1005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Feedback loops, if the model were ever retrained on outreach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905000"/>
            <a:ext cx="335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2F6F4F"/>
                </a:solidFill>
                <a:latin typeface="Calibri"/>
              </a:rPr>
              <a:t>ALREADY IN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9600" y="2152650"/>
            <a:ext cx="3352800" cy="1905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9600" y="23241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written constitution and a model 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9600" y="26479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9600" y="274320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published fairness audit and a limitations statement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9600" y="327660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9600" y="337185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reproducible pipeline — a fresh-environment re-run gives zero deltas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9052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9600" y="400050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CI on every change, and a version-checked artifact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453390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9600" y="462915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local action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400" y="1905000"/>
            <a:ext cx="3352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1F3A5F"/>
                </a:solidFill>
                <a:latin typeface="Calibri"/>
              </a:rPr>
              <a:t>WHAT A PILOT WOULD NEED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3400" y="2152650"/>
            <a:ext cx="33528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53400" y="23241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Institutional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3400" y="26479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3400" y="27432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local data agreement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3400" y="30670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53400" y="31623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Re-training and a fresh audit on local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3400" y="34861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53400" y="3581400"/>
            <a:ext cx="33528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Adviser training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3400" y="3905250"/>
            <a:ext cx="3352800" cy="9525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53400" y="4000500"/>
            <a:ext cx="33528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D2A3A"/>
                </a:solidFill>
                <a:latin typeface="Calibri"/>
              </a:rPr>
              <a:t>A standing review cadence for the Equity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reports/limitations.md · reports/model_card.md · .specify/memory/constitution.md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NEXT STEPS AND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04900"/>
            <a:ext cx="108204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>
                <a:solidFill>
                  <a:srgbClr val="1F3A5F"/>
                </a:solidFill>
                <a:latin typeface="Georgia"/>
              </a:rPr>
              <a:t>Three decisions before any local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85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B7791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4450" y="1828800"/>
            <a:ext cx="10191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F3A5F"/>
                </a:solidFill>
                <a:latin typeface="Calibri"/>
              </a:rPr>
              <a:t>Decide whether to pilot with local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50" y="2114550"/>
            <a:ext cx="10096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Under the governance set out on the previous slide — nothing here is a deployment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7175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2415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B7791F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2705100"/>
            <a:ext cx="10191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F3A5F"/>
                </a:solidFill>
                <a:latin typeface="Calibri"/>
              </a:rPr>
              <a:t>Resolve the open data question with the data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50" y="2990850"/>
            <a:ext cx="10096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The timing of the financial-status fields is unclear, so they are excluded today. That must be settled before any local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4805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0045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B7791F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4450" y="3581400"/>
            <a:ext cx="10191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F3A5F"/>
                </a:solidFill>
                <a:latin typeface="Calibri"/>
              </a:rPr>
              <a:t>Design the pilot to measure what this project 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4450" y="3867150"/>
            <a:ext cx="10096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D2A3A"/>
                </a:solidFill>
                <a:latin typeface="Calibri"/>
              </a:rPr>
              <a:t>Whether outreach changes outcomes — the model does not show this — and how the list's composition by group moves each 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10099"/>
            <a:ext cx="10820400" cy="14573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876800"/>
            <a:ext cx="19050" cy="68580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3950" y="4857750"/>
            <a:ext cx="2857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spc="180">
                <a:solidFill>
                  <a:srgbClr val="FFD98A"/>
                </a:solidFill>
                <a:latin typeface="Calibri"/>
              </a:rPr>
              <a:t>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5105400"/>
            <a:ext cx="10001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75" b="0">
                <a:solidFill>
                  <a:srgbClr val="FFFFFF"/>
                </a:solidFill>
                <a:latin typeface="Georgia"/>
              </a:rPr>
              <a:t>Sponsorship for a time-boxed pilot with an equity review checkpoint — not a deployment decision.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Consolas"/>
              </a:rPr>
              <a:t>reports/final_report.md · reports/model_card.md · model version 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1240</Words>
  <Application>Microsoft Macintosh PowerPoint</Application>
  <PresentationFormat>Widescreen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Julius Pabular</cp:lastModifiedBy>
  <cp:revision>3</cp:revision>
  <dcterms:created xsi:type="dcterms:W3CDTF">2013-01-27T09:14:16Z</dcterms:created>
  <dcterms:modified xsi:type="dcterms:W3CDTF">2026-09-10T17:05:32Z</dcterms:modified>
  <cp:category/>
</cp:coreProperties>
</file>