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200" y="876300"/>
            <a:ext cx="533400" cy="28575"/>
          </a:xfrm>
          <a:prstGeom prst="rect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112395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80">
                <a:solidFill>
                  <a:srgbClr val="FFD98A"/>
                </a:solidFill>
                <a:latin typeface="Calibri"/>
              </a:rPr>
              <a:t>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504950"/>
            <a:ext cx="105156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000" b="1">
                <a:solidFill>
                  <a:srgbClr val="FFFFFF"/>
                </a:solidFill>
                <a:latin typeface="Georgia"/>
              </a:rPr>
              <a:t>Fair and Explainable Student Dropout Risk Prediction for Early Academic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3543300"/>
            <a:ext cx="10515600" cy="9525"/>
          </a:xfrm>
          <a:prstGeom prst="rect">
            <a:avLst/>
          </a:prstGeom>
          <a:solidFill>
            <a:srgbClr val="3A54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3790950"/>
            <a:ext cx="105156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Question.</a:t>
            </a:r>
            <a:r>
              <a:rPr sz="1200" b="0" i="0">
                <a:solidFill>
                  <a:srgbClr val="D6E0EC"/>
                </a:solidFill>
                <a:latin typeface="Calibri"/>
              </a:rPr>
              <a:t> At the end of a student's first semester, can we rank students so that a small, voluntary adviser outreach list reaches those most likely to leave, using only information available at that point, explainably and with a fairness audit?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705350"/>
            <a:ext cx="105156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Answer in one line.</a:t>
            </a:r>
            <a:r>
              <a:rPr sz="1200" b="0" i="0">
                <a:solidFill>
                  <a:srgbClr val="D6E0EC"/>
                </a:solidFill>
                <a:latin typeface="Calibri"/>
              </a:rPr>
              <a:t> A calibrated random-forest pipeline on 21 enrollment-time and first-semester features reaches held-out PR-AUC 0.817 (base rate 0.321), fills an illustrative outreach list at 96% precision, and shows an equal-opportunity gap by age that advisers must compensate for.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943600"/>
            <a:ext cx="10515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9FB4CE"/>
                </a:solidFill>
                <a:latin typeface="Consolas"/>
              </a:rPr>
              <a:t>Student Success Navigator · v1.0.0 · every number is read from files under reports/; nothing on these slides is typed by hand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4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70">
                <a:solidFill>
                  <a:srgbClr val="5B6B7B"/>
                </a:solidFill>
                <a:latin typeface="Calibri"/>
              </a:rPr>
              <a:t>PROBLEM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6200" y="5334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70">
                <a:solidFill>
                  <a:srgbClr val="5B6B7B"/>
                </a:solidFill>
                <a:latin typeface="Calibri"/>
              </a:rPr>
              <a:t>02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52500"/>
            <a:ext cx="108204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325" b="1">
                <a:solidFill>
                  <a:srgbClr val="1F3A5F"/>
                </a:solidFill>
                <a:latin typeface="Georgia"/>
              </a:rPr>
              <a:t>Ranking for a fixed-capacity outreach list, not a verdict on a 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820400" cy="419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D8DEE6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Unit of analysis: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 one student enrollment record ·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Prediction point: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 end of first semester</a:t>
            </a:r>
          </a:p>
          <a:p>
            <a:pPr>
              <a:lnSpc>
                <a:spcPct val="140000"/>
              </a:lnSpc>
              <a:spcBef>
                <a:spcPts val="825"/>
              </a:spcBef>
            </a:pPr>
            <a:r>
              <a:rPr sz="1200">
                <a:solidFill>
                  <a:srgbClr val="D8DEE6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Task: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 binary classification, </a:t>
            </a:r>
            <a:r>
              <a:rPr sz="1125" b="0" i="0">
                <a:solidFill>
                  <a:srgbClr val="1D2A3A"/>
                </a:solidFill>
                <a:latin typeface="Consolas"/>
              </a:rPr>
              <a:t>is_dropout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 = 1 where source Target = Dropout (Enrolled and Graduate = 0)</a:t>
            </a:r>
          </a:p>
          <a:p>
            <a:pPr>
              <a:lnSpc>
                <a:spcPct val="140000"/>
              </a:lnSpc>
              <a:spcBef>
                <a:spcPts val="825"/>
              </a:spcBef>
            </a:pPr>
            <a:r>
              <a:rPr sz="1200">
                <a:solidFill>
                  <a:srgbClr val="D8DEE6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Use: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 decision support for </a:t>
            </a:r>
            <a:r>
              <a:rPr sz="1200" b="0" i="1">
                <a:solidFill>
                  <a:srgbClr val="1D2A3A"/>
                </a:solidFill>
                <a:latin typeface="Calibri"/>
              </a:rPr>
              <a:t>voluntary, supportive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 adviser outreach within a fixed capacity</a:t>
            </a:r>
          </a:p>
          <a:p>
            <a:pPr>
              <a:lnSpc>
                <a:spcPct val="140000"/>
              </a:lnSpc>
              <a:spcBef>
                <a:spcPts val="825"/>
              </a:spcBef>
            </a:pPr>
            <a:r>
              <a:rPr sz="1200">
                <a:solidFill>
                  <a:srgbClr val="D8DEE6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Non-use: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 no automated or adverse decision about admission, enrollment, aid, grades, discipline, housing</a:t>
            </a:r>
          </a:p>
          <a:p>
            <a:pPr>
              <a:lnSpc>
                <a:spcPct val="140000"/>
              </a:lnSpc>
              <a:spcBef>
                <a:spcPts val="825"/>
              </a:spcBef>
            </a:pPr>
            <a:r>
              <a:rPr sz="1200">
                <a:solidFill>
                  <a:srgbClr val="D8DEE6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Primary metric: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 PR-AUC (imbalance: positive rate 0.321) ·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Intervention metric: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 Recall@K and Precision@K</a:t>
            </a:r>
          </a:p>
          <a:p>
            <a:pPr>
              <a:lnSpc>
                <a:spcPct val="140000"/>
              </a:lnSpc>
              <a:spcBef>
                <a:spcPts val="825"/>
              </a:spcBef>
            </a:pPr>
            <a:r>
              <a:rPr sz="1200">
                <a:solidFill>
                  <a:srgbClr val="D8DEE6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Capacity assumption (ILLUSTRATIVE):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 10 students/week × 5 weeks = K 50 per cohort of 885</a:t>
            </a:r>
          </a:p>
          <a:p>
            <a:pPr>
              <a:lnSpc>
                <a:spcPct val="140000"/>
              </a:lnSpc>
              <a:spcBef>
                <a:spcPts val="825"/>
              </a:spcBef>
            </a:pPr>
            <a:r>
              <a:rPr sz="1200">
                <a:solidFill>
                  <a:srgbClr val="D8DEE6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Governance: constitution with 12 principles and 10 quality gates; Spec Kit spec → plan → 94 tasks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389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B6B7B"/>
                </a:solidFill>
                <a:latin typeface="Consolas"/>
              </a:rPr>
              <a:t>specs/001-dropout-risk-navigator/ · .specify/memory/constitution.md · configs/base.yaml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4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70">
                <a:solidFill>
                  <a:srgbClr val="5B6B7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6200" y="5334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70">
                <a:solidFill>
                  <a:srgbClr val="5B6B7B"/>
                </a:solidFill>
                <a:latin typeface="Calibri"/>
              </a:rPr>
              <a:t>03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52500"/>
            <a:ext cx="108204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325" b="1">
                <a:solidFill>
                  <a:srgbClr val="1F3A5F"/>
                </a:solidFill>
                <a:latin typeface="Georgia"/>
              </a:rPr>
              <a:t>UCI 697 — one institution, 4,424 records, every code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820400" cy="409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D8DEE6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UCI ML Repository 697, </a:t>
            </a:r>
            <a:r>
              <a:rPr sz="1200" b="0" i="1">
                <a:solidFill>
                  <a:srgbClr val="1D2A3A"/>
                </a:solidFill>
                <a:latin typeface="Calibri"/>
              </a:rPr>
              <a:t>Predict Students' Dropout and Academic Success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 (Realinho et al., 2021),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CC BY 4.0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, DOI 10.24432/C5MC89</a:t>
            </a:r>
          </a:p>
          <a:p>
            <a:pPr>
              <a:lnSpc>
                <a:spcPct val="140000"/>
              </a:lnSpc>
              <a:spcBef>
                <a:spcPts val="825"/>
              </a:spcBef>
            </a:pPr>
            <a:r>
              <a:rPr sz="1200">
                <a:solidFill>
                  <a:srgbClr val="D8DEE6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One Portuguese higher-education institution;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4,424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 records × 36 features + Target; 0 missing, 0 duplicates, 0 undocumented codes</a:t>
            </a:r>
          </a:p>
          <a:p>
            <a:pPr>
              <a:lnSpc>
                <a:spcPct val="140000"/>
              </a:lnSpc>
              <a:spcBef>
                <a:spcPts val="825"/>
              </a:spcBef>
            </a:pPr>
            <a:r>
              <a:rPr sz="1200">
                <a:solidFill>
                  <a:srgbClr val="D8DEE6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Target: Graduate 2,209 · Dropout 1,421 · Enrolled 794 → positive rate 0.321</a:t>
            </a:r>
          </a:p>
          <a:p>
            <a:pPr>
              <a:lnSpc>
                <a:spcPct val="140000"/>
              </a:lnSpc>
              <a:spcBef>
                <a:spcPts val="825"/>
              </a:spcBef>
            </a:pPr>
            <a:r>
              <a:rPr sz="1200">
                <a:solidFill>
                  <a:srgbClr val="D8DEE6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Every categorical encoding copied from the UCI variables table and verified against observed codes (22 coded columns, including Gender 1 = male, 0 = female)</a:t>
            </a:r>
          </a:p>
          <a:p>
            <a:pPr>
              <a:lnSpc>
                <a:spcPct val="140000"/>
              </a:lnSpc>
              <a:spcBef>
                <a:spcPts val="825"/>
              </a:spcBef>
            </a:pPr>
            <a:r>
              <a:rPr sz="1200">
                <a:solidFill>
                  <a:srgbClr val="D8DEE6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Stratified 80/20 split, seed 42: train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3539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 · test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885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 (evaluated once)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105400"/>
            <a:ext cx="10820400" cy="685800"/>
          </a:xfrm>
          <a:prstGeom prst="rect">
            <a:avLst/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105400"/>
            <a:ext cx="28575" cy="685800"/>
          </a:xfrm>
          <a:prstGeom prst="rect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5219700"/>
            <a:ext cx="104965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975" b="0" i="0">
                <a:solidFill>
                  <a:srgbClr val="B7791F"/>
                </a:solidFill>
                <a:latin typeface="Calibri"/>
              </a:rPr>
              <a:t>Not representative of Philippine or other institutions; outcomes are historical and may encode institutional inequities.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389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B6B7B"/>
                </a:solidFill>
                <a:latin typeface="Consolas"/>
              </a:rPr>
              <a:t>reports/data_overview.md · reports/tables/profile_*.csv · configs/features.yaml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4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70">
                <a:solidFill>
                  <a:srgbClr val="5B6B7B"/>
                </a:solidFill>
                <a:latin typeface="Calibri"/>
              </a:rPr>
              <a:t>LEAKAGE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6200" y="5334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70">
                <a:solidFill>
                  <a:srgbClr val="5B6B7B"/>
                </a:solidFill>
                <a:latin typeface="Calibri"/>
              </a:rPr>
              <a:t>04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52500"/>
            <a:ext cx="108204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325" b="1">
                <a:solidFill>
                  <a:srgbClr val="1F3A5F"/>
                </a:solidFill>
                <a:latin typeface="Georgia"/>
              </a:rPr>
              <a:t>The feature-availability list decides what the model may see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62100"/>
          <a:ext cx="10820400" cy="2438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48400"/>
                <a:gridCol w="1428750"/>
                <a:gridCol w="3143250"/>
              </a:tblGrid>
              <a:tr h="43815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25" b="1" i="0" spc="130">
                          <a:solidFill>
                            <a:srgbClr val="5B6B7B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114300" marR="9525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825" b="1" i="0" spc="130">
                          <a:solidFill>
                            <a:srgbClr val="5B6B7B"/>
                          </a:solidFill>
                          <a:latin typeface="Calibri"/>
                        </a:rPr>
                        <a:t>COLUMNS</a:t>
                      </a:r>
                    </a:p>
                  </a:txBody>
                  <a:tcPr marL="95250" marR="11430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25" b="1" i="0" spc="130">
                          <a:solidFill>
                            <a:srgbClr val="5B6B7B"/>
                          </a:solidFill>
                          <a:latin typeface="Calibri"/>
                        </a:rPr>
                        <a:t>MODEL INPUT?</a:t>
                      </a:r>
                    </a:p>
                  </a:txBody>
                  <a:tcPr marL="114300" marR="9525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Enrollment-time features</a:t>
                      </a:r>
                    </a:p>
                  </a:txBody>
                  <a:tcPr marL="114300" marR="9525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1" i="0">
                          <a:solidFill>
                            <a:srgbClr val="1D2A3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5B6B7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14300" marR="9525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First-semester features</a:t>
                      </a:r>
                    </a:p>
                  </a:txBody>
                  <a:tcPr marL="114300" marR="9525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1" i="0">
                          <a:solidFill>
                            <a:srgbClr val="1D2A3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5B6B7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14300" marR="9525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Second-semester (after prediction point)</a:t>
                      </a:r>
                    </a:p>
                  </a:txBody>
                  <a:tcPr marL="114300" marR="9525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1" i="0">
                          <a:solidFill>
                            <a:srgbClr val="1D2A3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25" b="1" i="0">
                          <a:solidFill>
                            <a:srgbClr val="1F3A5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14300" marR="9525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EEF1F5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Financial status, undocumented timing (Debtor, Tuition fees, Scholarship holder)</a:t>
                      </a:r>
                    </a:p>
                  </a:txBody>
                  <a:tcPr marL="114300" marR="9525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1" i="0">
                          <a:solidFill>
                            <a:srgbClr val="1D2A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25" b="1" i="0">
                          <a:solidFill>
                            <a:srgbClr val="1F3A5F"/>
                          </a:solidFill>
                          <a:latin typeface="Calibri"/>
                        </a:rPr>
                        <a:t>no</a:t>
                      </a:r>
                      <a:r>
                        <a:rPr sz="1125" b="0" i="0">
                          <a:solidFill>
                            <a:srgbClr val="5B6B7B"/>
                          </a:solidFill>
                          <a:latin typeface="Calibri"/>
                        </a:rPr>
                        <a:t> (ambiguous)</a:t>
                      </a:r>
                    </a:p>
                  </a:txBody>
                  <a:tcPr marL="114300" marR="9525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EEF1F5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Sensitive attributes (gender, age, nationality, international, marital, needs)</a:t>
                      </a:r>
                    </a:p>
                  </a:txBody>
                  <a:tcPr marL="114300" marR="9525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1" i="0">
                          <a:solidFill>
                            <a:srgbClr val="1D2A3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25" b="1" i="0">
                          <a:solidFill>
                            <a:srgbClr val="1F3A5F"/>
                          </a:solidFill>
                          <a:latin typeface="Calibri"/>
                        </a:rPr>
                        <a:t>no</a:t>
                      </a:r>
                      <a:r>
                        <a:rPr sz="1125" b="0" i="0">
                          <a:solidFill>
                            <a:srgbClr val="5B6B7B"/>
                          </a:solidFill>
                          <a:latin typeface="Calibri"/>
                        </a:rPr>
                        <a:t> (audit only)</a:t>
                      </a:r>
                    </a:p>
                  </a:txBody>
                  <a:tcPr marL="114300" marR="9525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152900"/>
            <a:ext cx="108204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Enforced by </a:t>
            </a:r>
            <a:r>
              <a:rPr sz="1050" b="0" i="0">
                <a:solidFill>
                  <a:srgbClr val="1D2A3A"/>
                </a:solidFill>
                <a:latin typeface="Consolas"/>
              </a:rPr>
              <a:t>configs/features.yaml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, </a:t>
            </a:r>
            <a:r>
              <a:rPr sz="1050" b="0" i="0">
                <a:solidFill>
                  <a:srgbClr val="1D2A3A"/>
                </a:solidFill>
                <a:latin typeface="Consolas"/>
              </a:rPr>
              <a:t>project_features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 / </a:t>
            </a:r>
            <a:r>
              <a:rPr sz="1050" b="0" i="0">
                <a:solidFill>
                  <a:srgbClr val="1D2A3A"/>
                </a:solidFill>
                <a:latin typeface="Consolas"/>
              </a:rPr>
              <a:t>assert_frame_allowed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, and tests that spy on every parquet read</a:t>
            </a:r>
          </a:p>
          <a:p>
            <a:pPr>
              <a:lnSpc>
                <a:spcPct val="140000"/>
              </a:lnSpc>
              <a:spcBef>
                <a:spcPts val="675"/>
              </a:spcBef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1" i="0">
                <a:solidFill>
                  <a:srgbClr val="1F3A5F"/>
                </a:solidFill>
                <a:latin typeface="Calibri"/>
              </a:rPr>
              <a:t>Cost of the guard, measured: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 including the 3 ambiguous columns would add 0.036–0.039 CV PR-AUC (</a:t>
            </a:r>
            <a:r>
              <a:rPr sz="1050" b="0" i="0">
                <a:solidFill>
                  <a:srgbClr val="1D2A3A"/>
                </a:solidFill>
                <a:latin typeface="Consolas"/>
              </a:rPr>
              <a:t>ablation_ambiguous.csv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) — a gain that may be leakage, so they stay out</a:t>
            </a:r>
          </a:p>
          <a:p>
            <a:pPr>
              <a:lnSpc>
                <a:spcPct val="140000"/>
              </a:lnSpc>
              <a:spcBef>
                <a:spcPts val="675"/>
              </a:spcBef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Excluding the 6 sensitive attributes costs at most 0.0065 PR-AUC (</a:t>
            </a:r>
            <a:r>
              <a:rPr sz="1050" b="0" i="0">
                <a:solidFill>
                  <a:srgbClr val="1D2A3A"/>
                </a:solidFill>
                <a:latin typeface="Consolas"/>
              </a:rPr>
              <a:t>ablation_sensitive.csv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389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B6B7B"/>
                </a:solidFill>
                <a:latin typeface="Consolas"/>
              </a:rPr>
              <a:t>configs/features.yaml · reports/tables/ablation_ambiguous.csv · ablation_sensitive.csv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4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70">
                <a:solidFill>
                  <a:srgbClr val="5B6B7B"/>
                </a:solidFill>
                <a:latin typeface="Calibri"/>
              </a:rPr>
              <a:t>EDA (TRAINING SPLIT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6200" y="5334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70">
                <a:solidFill>
                  <a:srgbClr val="5B6B7B"/>
                </a:solidFill>
                <a:latin typeface="Calibri"/>
              </a:rPr>
              <a:t>05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52500"/>
            <a:ext cx="108204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175" b="1">
                <a:solidFill>
                  <a:srgbClr val="1F3A5F"/>
                </a:solidFill>
                <a:latin typeface="Georgia"/>
              </a:rPr>
              <a:t>First-semester performance carries the signal</a:t>
            </a:r>
          </a:p>
        </p:txBody>
      </p:sp>
      <p:pic>
        <p:nvPicPr>
          <p:cNvPr id="6" name="Picture 5" descr="eda_correlation_spear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5200650" cy="4457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5550" y="1714500"/>
            <a:ext cx="4514850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First-semester approvals, approval rate and grade carry the strongest associations with dropout</a:t>
            </a:r>
          </a:p>
          <a:p>
            <a:pPr>
              <a:lnSpc>
                <a:spcPct val="140000"/>
              </a:lnSpc>
              <a:spcBef>
                <a:spcPts val="975"/>
              </a:spcBef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138 training records have zero first-semester units enrolled (rate features undefined → imputed inside CV)</a:t>
            </a:r>
          </a:p>
          <a:p>
            <a:pPr>
              <a:lnSpc>
                <a:spcPct val="140000"/>
              </a:lnSpc>
              <a:spcBef>
                <a:spcPts val="975"/>
              </a:spcBef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Sensitive-group base rates differ widely (e.g. dropout rate 46.1% male vs 24.5% female on test): context for the audit, never a model 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389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B6B7B"/>
                </a:solidFill>
                <a:latin typeface="Consolas"/>
              </a:rPr>
              <a:t>reports/figures/eda_correlation_spearman.png · reports/eda_feature_engineering_report.md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4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70">
                <a:solidFill>
                  <a:srgbClr val="5B6B7B"/>
                </a:solidFill>
                <a:latin typeface="Calibri"/>
              </a:rPr>
              <a:t>FEATURES, SELECTION, PCA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6200" y="5334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70">
                <a:solidFill>
                  <a:srgbClr val="5B6B7B"/>
                </a:solidFill>
                <a:latin typeface="Calibri"/>
              </a:rPr>
              <a:t>06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52500"/>
            <a:ext cx="108204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175" b="1">
                <a:solidFill>
                  <a:srgbClr val="1F3A5F"/>
                </a:solidFill>
                <a:latin typeface="Georgia"/>
              </a:rPr>
              <a:t>Selection and PCA were compared, then declined on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4950"/>
            <a:ext cx="10820400" cy="2047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1" i="0">
                <a:solidFill>
                  <a:srgbClr val="1F3A5F"/>
                </a:solidFill>
                <a:latin typeface="Calibri"/>
              </a:rPr>
              <a:t>7 stateless engineered features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 from allow-listed inputs: approval rate, evaluation participation rate, non-evaluation rate, grade change vs admission (scales matched), credited share, load, any-approved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Preprocessing = median impute · scale · one-hot → </a:t>
            </a:r>
            <a:r>
              <a:rPr sz="1125" b="1" i="0">
                <a:solidFill>
                  <a:srgbClr val="1F3A5F"/>
                </a:solidFill>
                <a:latin typeface="Calibri"/>
              </a:rPr>
              <a:t>207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 columns; all fitting inside CV folds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1" i="0">
                <a:solidFill>
                  <a:srgbClr val="1F3A5F"/>
                </a:solidFill>
                <a:latin typeface="Calibri"/>
              </a:rPr>
              <a:t>Selection: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 mutual-information filter and L1-logistic embedded selectors over k ∈ {10…all}; keeping all 207 scored highest (0.818), embedded k = 30 within one std (0.811) → carried as a tuned variant, not imposed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1" i="0">
                <a:solidFill>
                  <a:srgbClr val="1F3A5F"/>
                </a:solidFill>
                <a:latin typeface="Calibri"/>
              </a:rPr>
              <a:t>PCA: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 42 components for 95% variance; PCA pipeline 0.801 vs 0.818 without → retained for analysis/visualisation only</a:t>
            </a:r>
          </a:p>
        </p:txBody>
      </p:sp>
      <p:pic>
        <p:nvPicPr>
          <p:cNvPr id="7" name="Picture 6" descr="pca_sc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050" y="3676650"/>
            <a:ext cx="5105400" cy="25527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389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B6B7B"/>
                </a:solidFill>
                <a:latin typeface="Consolas"/>
              </a:rPr>
              <a:t>reports/tables/selection_decision.json · pca_vs_nopca_cv.csv · reports/figures/pca_scree.png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4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70">
                <a:solidFill>
                  <a:srgbClr val="5B6B7B"/>
                </a:solidFill>
                <a:latin typeface="Calibri"/>
              </a:rPr>
              <a:t>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6200" y="5334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70">
                <a:solidFill>
                  <a:srgbClr val="5B6B7B"/>
                </a:solidFill>
                <a:latin typeface="Calibri"/>
              </a:rPr>
              <a:t>07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52500"/>
            <a:ext cx="108204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325" b="1">
                <a:solidFill>
                  <a:srgbClr val="1F3A5F"/>
                </a:solidFill>
                <a:latin typeface="Georgia"/>
              </a:rPr>
              <a:t>5-fold stratified CV, seed 42 — all three within one CV std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4950"/>
          <a:ext cx="10820400" cy="2057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76650"/>
                <a:gridCol w="1676400"/>
                <a:gridCol w="1333500"/>
                <a:gridCol w="1504950"/>
                <a:gridCol w="1314450"/>
                <a:gridCol w="131445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25" b="1" i="0" spc="130">
                          <a:solidFill>
                            <a:srgbClr val="5B6B7B"/>
                          </a:solidFill>
                          <a:latin typeface="Calibri"/>
                        </a:rPr>
                        <a:t>MODEL (CLASS-WEIGHTED, ALL FEATURES)</a:t>
                      </a:r>
                    </a:p>
                  </a:txBody>
                  <a:tcPr marL="114300" marR="9525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825" b="1" i="0" spc="130">
                          <a:solidFill>
                            <a:srgbClr val="5B6B7B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 marL="95250" marR="11430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825" b="1" i="0" spc="130">
                          <a:solidFill>
                            <a:srgbClr val="5B6B7B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marL="95250" marR="11430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825" b="1" i="0" spc="130">
                          <a:solidFill>
                            <a:srgbClr val="5B6B7B"/>
                          </a:solidFill>
                          <a:latin typeface="Calibri"/>
                        </a:rPr>
                        <a:t>PRECISION@K</a:t>
                      </a:r>
                    </a:p>
                  </a:txBody>
                  <a:tcPr marL="95250" marR="11430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825" b="1" i="0" spc="130">
                          <a:solidFill>
                            <a:srgbClr val="5B6B7B"/>
                          </a:solidFill>
                          <a:latin typeface="Calibri"/>
                        </a:rPr>
                        <a:t>BRIER</a:t>
                      </a:r>
                    </a:p>
                  </a:txBody>
                  <a:tcPr marL="95250" marR="11430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825" b="1" i="0" spc="130">
                          <a:solidFill>
                            <a:srgbClr val="5B6B7B"/>
                          </a:solidFill>
                          <a:latin typeface="Calibri"/>
                        </a:rPr>
                        <a:t>ECE</a:t>
                      </a:r>
                    </a:p>
                  </a:txBody>
                  <a:tcPr marL="95250" marR="11430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Dummy (prior)</a:t>
                      </a:r>
                    </a:p>
                  </a:txBody>
                  <a:tcPr marL="114300" marR="9525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0.321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0.33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0.218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EEF1F5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marL="114300" marR="9525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0.818 ± 0.017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0.878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0.134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0.096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25" b="1" i="0">
                          <a:solidFill>
                            <a:srgbClr val="1D2A3A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114300" marR="9525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1" i="0">
                          <a:solidFill>
                            <a:srgbClr val="1F3A5F"/>
                          </a:solidFill>
                          <a:latin typeface="Calibri"/>
                        </a:rPr>
                        <a:t>0.807 ± 0.009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0.872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0.96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0.126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1" i="0">
                          <a:solidFill>
                            <a:srgbClr val="1F3A5F"/>
                          </a:solidFill>
                          <a:latin typeface="Calibri"/>
                        </a:rPr>
                        <a:t>0.032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HistGradientBoosting</a:t>
                      </a:r>
                    </a:p>
                  </a:txBody>
                  <a:tcPr marL="114300" marR="9525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0.811 ± 0.014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0.869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0.98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0.132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0.067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695700"/>
            <a:ext cx="1082040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SMOTENC lowered PR-AUC for both models it was tried on → class weighting kept</a:t>
            </a:r>
          </a:p>
          <a:p>
            <a:pPr>
              <a:lnSpc>
                <a:spcPct val="140000"/>
              </a:lnSpc>
              <a:spcBef>
                <a:spcPts val="675"/>
              </a:spcBef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After tuning (RandomizedSearchCV, PR-AUC), all three remain within one CV std → selection by documented rule: Recall@K, then </a:t>
            </a:r>
            <a:r>
              <a:rPr sz="1125" b="1" i="0">
                <a:solidFill>
                  <a:srgbClr val="1F3A5F"/>
                </a:solidFill>
                <a:latin typeface="Calibri"/>
              </a:rPr>
              <a:t>calibration error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, then fairness gap, then Brier, then fit time. </a:t>
            </a:r>
            <a:r>
              <a:rPr sz="1125" b="1" i="0">
                <a:solidFill>
                  <a:srgbClr val="1F3A5F"/>
                </a:solidFill>
                <a:latin typeface="Calibri"/>
              </a:rPr>
              <a:t>Chosen: random forest, all features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; isotonic calibration applied (ECE 0.054 → 0.017)</a:t>
            </a:r>
          </a:p>
          <a:p>
            <a:pPr>
              <a:lnSpc>
                <a:spcPct val="140000"/>
              </a:lnSpc>
              <a:spcBef>
                <a:spcPts val="675"/>
              </a:spcBef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Accuracy is reported but excluded from selection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389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B6B7B"/>
                </a:solidFill>
                <a:latin typeface="Consolas"/>
              </a:rPr>
              <a:t>reports/tables/cv_comparison.csv · selection_matrix_ranked.csv · calibration_decision.json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4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70">
                <a:solidFill>
                  <a:srgbClr val="5B6B7B"/>
                </a:solidFill>
                <a:latin typeface="Calibri"/>
              </a:rPr>
              <a:t>FINAL HELD-OUT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6200" y="5334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70">
                <a:solidFill>
                  <a:srgbClr val="5B6B7B"/>
                </a:solidFill>
                <a:latin typeface="Calibri"/>
              </a:rPr>
              <a:t>08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52500"/>
            <a:ext cx="108204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175" b="1">
                <a:solidFill>
                  <a:srgbClr val="1F3A5F"/>
                </a:solidFill>
                <a:latin typeface="Georgia"/>
              </a:rPr>
              <a:t>Evaluated once — `test_evaluations` = 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47800"/>
          <a:ext cx="10820400" cy="1276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52700"/>
                <a:gridCol w="1409700"/>
                <a:gridCol w="1409700"/>
                <a:gridCol w="1409700"/>
                <a:gridCol w="1466850"/>
                <a:gridCol w="1295400"/>
                <a:gridCol w="1276350"/>
              </a:tblGrid>
              <a:tr h="43815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</a:p>
                  </a:txBody>
                  <a:tcPr marL="114300" marR="9525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825" b="1" i="0" spc="130">
                          <a:solidFill>
                            <a:srgbClr val="5B6B7B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 marL="95250" marR="11430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825" b="1" i="0" spc="130">
                          <a:solidFill>
                            <a:srgbClr val="5B6B7B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marL="95250" marR="11430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825" b="1" i="0" spc="130">
                          <a:solidFill>
                            <a:srgbClr val="5B6B7B"/>
                          </a:solidFill>
                          <a:latin typeface="Calibri"/>
                        </a:rPr>
                        <a:t>RECALL@K</a:t>
                      </a:r>
                    </a:p>
                  </a:txBody>
                  <a:tcPr marL="95250" marR="11430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825" b="1" i="0" spc="130">
                          <a:solidFill>
                            <a:srgbClr val="5B6B7B"/>
                          </a:solidFill>
                          <a:latin typeface="Calibri"/>
                        </a:rPr>
                        <a:t>PRECISION@K</a:t>
                      </a:r>
                    </a:p>
                  </a:txBody>
                  <a:tcPr marL="95250" marR="11430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825" b="1" i="0" spc="130">
                          <a:solidFill>
                            <a:srgbClr val="5B6B7B"/>
                          </a:solidFill>
                          <a:latin typeface="Calibri"/>
                        </a:rPr>
                        <a:t>BRIER</a:t>
                      </a:r>
                    </a:p>
                  </a:txBody>
                  <a:tcPr marL="95250" marR="11430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825" b="1" i="0" spc="130">
                          <a:solidFill>
                            <a:srgbClr val="5B6B7B"/>
                          </a:solidFill>
                          <a:latin typeface="Calibri"/>
                        </a:rPr>
                        <a:t>ECE</a:t>
                      </a:r>
                    </a:p>
                  </a:txBody>
                  <a:tcPr marL="95250" marR="11430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25" b="1" i="0">
                          <a:solidFill>
                            <a:srgbClr val="1F3A5F"/>
                          </a:solidFill>
                          <a:latin typeface="Calibri"/>
                        </a:rPr>
                        <a:t>Final calibrated RF</a:t>
                      </a:r>
                    </a:p>
                  </a:txBody>
                  <a:tcPr marL="114300" marR="9525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1" i="0">
                          <a:solidFill>
                            <a:srgbClr val="1F3A5F"/>
                          </a:solidFill>
                          <a:latin typeface="Calibri"/>
                        </a:rPr>
                        <a:t>0.817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0.892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0.169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0.96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0.118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0.034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Dummy baseline</a:t>
                      </a:r>
                    </a:p>
                  </a:txBody>
                  <a:tcPr marL="114300" marR="9525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0.321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0.074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0.218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test_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857500"/>
            <a:ext cx="4000500" cy="3143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2914650"/>
            <a:ext cx="64008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Threshold 0.9728 = OOF score at the capacity selection rate (200 of 3539); on test it selects 57 students at precision 0.965</a:t>
            </a:r>
          </a:p>
          <a:p>
            <a:pPr>
              <a:lnSpc>
                <a:spcPct val="140000"/>
              </a:lnSpc>
              <a:spcBef>
                <a:spcPts val="825"/>
              </a:spcBef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1" i="0">
                <a:solidFill>
                  <a:srgbClr val="1F3A5F"/>
                </a:solidFill>
                <a:latin typeface="Calibri"/>
              </a:rPr>
              <a:t>Recall@K is capacity-bound: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 K = 50 slots for 284 eventual dropouts → ceiling ≈ 0.176; a 10-week window reaches 0.327</a:t>
            </a:r>
          </a:p>
          <a:p>
            <a:pPr>
              <a:lnSpc>
                <a:spcPct val="140000"/>
              </a:lnSpc>
              <a:spcBef>
                <a:spcPts val="825"/>
              </a:spcBef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Test PR-AUC matches the CV estimate (0.808): no sign of selection overfitting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389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B6B7B"/>
                </a:solidFill>
                <a:latin typeface="Consolas"/>
              </a:rPr>
              <a:t>reports/tables/test_metrics_all_models.csv · threshold_and_bands.json · models/manifest.json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4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70">
                <a:solidFill>
                  <a:srgbClr val="5B6B7B"/>
                </a:solidFill>
                <a:latin typeface="Calibri"/>
              </a:rPr>
              <a:t>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6200" y="5334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70">
                <a:solidFill>
                  <a:srgbClr val="5B6B7B"/>
                </a:solidFill>
                <a:latin typeface="Calibri"/>
              </a:rPr>
              <a:t>09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52500"/>
            <a:ext cx="108204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175" b="1">
                <a:solidFill>
                  <a:srgbClr val="1F3A5F"/>
                </a:solidFill>
                <a:latin typeface="Georgia"/>
              </a:rPr>
              <a:t>Named features, adviser-readable reasons</a:t>
            </a:r>
          </a:p>
        </p:txBody>
      </p:sp>
      <p:pic>
        <p:nvPicPr>
          <p:cNvPr id="6" name="Picture 5" descr="shap_global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24000"/>
            <a:ext cx="4052047" cy="430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95047" y="1638300"/>
            <a:ext cx="5625353" cy="419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SHAP TreeExplainer on each of the 5 calibrated ensemble members, aggregated to source features, averaged; explains uncalibrated contributions</a:t>
            </a:r>
          </a:p>
          <a:p>
            <a:pPr>
              <a:lnSpc>
                <a:spcPct val="140000"/>
              </a:lnSpc>
              <a:spcBef>
                <a:spcPts val="900"/>
              </a:spcBef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Top drivers: </a:t>
            </a:r>
            <a:r>
              <a:rPr sz="1050" b="0" i="0">
                <a:solidFill>
                  <a:srgbClr val="1D2A3A"/>
                </a:solidFill>
                <a:latin typeface="Consolas"/>
              </a:rPr>
              <a:t>sem1_approval_rate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, Curricular units 1st sem (approved), Curricular units 1st sem (grade), </a:t>
            </a:r>
            <a:r>
              <a:rPr sz="1050" b="0" i="0">
                <a:solidFill>
                  <a:srgbClr val="1D2A3A"/>
                </a:solidFill>
                <a:latin typeface="Consolas"/>
              </a:rPr>
              <a:t>grade_diff_vs_admission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, Application mode</a:t>
            </a:r>
          </a:p>
          <a:p>
            <a:pPr>
              <a:lnSpc>
                <a:spcPct val="140000"/>
              </a:lnSpc>
              <a:spcBef>
                <a:spcPts val="900"/>
              </a:spcBef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Local TP / FP / FN / TN cases rendered into supportive adviser phrases (</a:t>
            </a:r>
            <a:r>
              <a:rPr sz="1050" b="0" i="0">
                <a:solidFill>
                  <a:srgbClr val="1D2A3A"/>
                </a:solidFill>
                <a:latin typeface="Consolas"/>
              </a:rPr>
              <a:t>configs/language.yaml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); sensitive attributes can never appear as reasons (tested)</a:t>
            </a:r>
          </a:p>
          <a:p>
            <a:pPr>
              <a:lnSpc>
                <a:spcPct val="140000"/>
              </a:lnSpc>
              <a:spcBef>
                <a:spcPts val="900"/>
              </a:spcBef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PDP/ICE for 9 continuous raw features; engineered features explained via SHAP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389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B6B7B"/>
                </a:solidFill>
                <a:latin typeface="Consolas"/>
              </a:rPr>
              <a:t>reports/explainability/ · configs/language.yaml · tests/app/test_no_labels_rendered.py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4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70">
                <a:solidFill>
                  <a:srgbClr val="5B6B7B"/>
                </a:solidFill>
                <a:latin typeface="Calibri"/>
              </a:rPr>
              <a:t>FAIRNESS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6200" y="5334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70">
                <a:solidFill>
                  <a:srgbClr val="5B6B7B"/>
                </a:solidFill>
                <a:latin typeface="Calibri"/>
              </a:rPr>
              <a:t>10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52500"/>
            <a:ext cx="108204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250" b="1">
                <a:solidFill>
                  <a:srgbClr val="1F3A5F"/>
                </a:solidFill>
                <a:latin typeface="Georgia"/>
              </a:rPr>
              <a:t>Gender is near-equal; age is the material finding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47800"/>
          <a:ext cx="10820400" cy="1333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48150"/>
                <a:gridCol w="2362200"/>
                <a:gridCol w="1504950"/>
                <a:gridCol w="270510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825" b="1" i="0" spc="130">
                          <a:solidFill>
                            <a:srgbClr val="5B6B7B"/>
                          </a:solidFill>
                          <a:latin typeface="Calibri"/>
                        </a:rPr>
                        <a:t>ATTRIBUTE</a:t>
                      </a:r>
                    </a:p>
                  </a:txBody>
                  <a:tcPr marL="114300" marR="9525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825" b="1" i="0" spc="130">
                          <a:solidFill>
                            <a:srgbClr val="5B6B7B"/>
                          </a:solidFill>
                          <a:latin typeface="Calibri"/>
                        </a:rPr>
                        <a:t>SELECTION-RATE GAP (DP)</a:t>
                      </a:r>
                    </a:p>
                  </a:txBody>
                  <a:tcPr marL="95250" marR="11430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825" b="1" i="0" spc="130">
                          <a:solidFill>
                            <a:srgbClr val="5B6B7B"/>
                          </a:solidFill>
                          <a:latin typeface="Calibri"/>
                        </a:rPr>
                        <a:t>DI RATIO</a:t>
                      </a:r>
                    </a:p>
                  </a:txBody>
                  <a:tcPr marL="95250" marR="11430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825" b="1" i="0" spc="130">
                          <a:solidFill>
                            <a:srgbClr val="5B6B7B"/>
                          </a:solidFill>
                          <a:latin typeface="Calibri"/>
                        </a:rPr>
                        <a:t>EQUAL-OPPORTUNITY GAP (TPR)</a:t>
                      </a:r>
                    </a:p>
                  </a:txBody>
                  <a:tcPr marL="95250" marR="114300" marT="57150" marB="57150" anchor="ctr">
                    <a:lnB w="25400" cap="flat" cmpd="sng" algn="ctr">
                      <a:solidFill>
                        <a:srgbClr val="1F3A5F"/>
                      </a:solidFill>
                    </a:lnB>
                    <a:solidFill>
                      <a:srgbClr val="FAFBFC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Gender (female n=575, male n=310)</a:t>
                      </a:r>
                    </a:p>
                  </a:txBody>
                  <a:tcPr marL="114300" marR="9525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0.040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0.56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0.010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Age band (4 bands, smallest n=85)</a:t>
                      </a:r>
                    </a:p>
                  </a:txBody>
                  <a:tcPr marL="114300" marR="9525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0.227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0" i="0">
                          <a:solidFill>
                            <a:srgbClr val="1D2A3A"/>
                          </a:solidFill>
                          <a:latin typeface="Calibri"/>
                        </a:rPr>
                        <a:t>0.08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sz="1125" b="1" i="0">
                          <a:solidFill>
                            <a:srgbClr val="AA3333"/>
                          </a:solidFill>
                          <a:latin typeface="Calibri"/>
                        </a:rPr>
                        <a:t>0.397</a:t>
                      </a:r>
                    </a:p>
                  </a:txBody>
                  <a:tcPr marL="95250" marR="114300" marT="57150" marB="57150" anchor="ctr">
                    <a:lnB w="12700" cap="flat" cmpd="sng" algn="ctr">
                      <a:solidFill>
                        <a:srgbClr val="D8DEE6"/>
                      </a:solidFill>
                    </a:lnB>
                    <a:solidFill>
                      <a:srgbClr val="FFF7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2990850"/>
            <a:ext cx="108204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Gender: list composition mirrors a two-fold base-rate difference; TPR nearly equal (0.189 vs 0.199); FPR &lt; 1% both</a:t>
            </a:r>
          </a:p>
          <a:p>
            <a:pPr>
              <a:lnSpc>
                <a:spcPct val="140000"/>
              </a:lnSpc>
              <a:spcBef>
                <a:spcPts val="750"/>
              </a:spcBef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1" i="0">
                <a:solidFill>
                  <a:srgbClr val="1F3A5F"/>
                </a:solidFill>
                <a:latin typeface="Calibri"/>
              </a:rPr>
              <a:t>Age: the material finding.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 TPR 0.10 for 17–19 vs 0.50 for 35+: younger dropouts are under-reached through proxies (over-23 application route, programme, schedule)</a:t>
            </a:r>
          </a:p>
          <a:p>
            <a:pPr>
              <a:lnSpc>
                <a:spcPct val="140000"/>
              </a:lnSpc>
              <a:spcBef>
                <a:spcPts val="750"/>
              </a:spcBef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Mitigations on training OOF: reweighting (deployable; small parity gain, worse EO and calibration → not adopted); group thresholds (closes gender gap, needs gender at decision time → reported, not deployed)</a:t>
            </a:r>
          </a:p>
          <a:p>
            <a:pPr>
              <a:lnSpc>
                <a:spcPct val="140000"/>
              </a:lnSpc>
              <a:spcBef>
                <a:spcPts val="750"/>
              </a:spcBef>
            </a:pPr>
            <a:r>
              <a:rPr sz="1125">
                <a:solidFill>
                  <a:srgbClr val="D8DEE6"/>
                </a:solidFill>
                <a:latin typeface="Calibri"/>
              </a:rPr>
              <a:t>—  </a:t>
            </a:r>
            <a:r>
              <a:rPr sz="1125" b="0" i="0">
                <a:solidFill>
                  <a:srgbClr val="1D2A3A"/>
                </a:solidFill>
                <a:latin typeface="Calibri"/>
              </a:rPr>
              <a:t>Recommended: adviser-side outreach-list allocation for younger bands; the Equity Dashboard shows the gap each cycle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389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B6B7B"/>
                </a:solidFill>
                <a:latin typeface="Consolas"/>
              </a:rPr>
              <a:t>reports/fairness/group_metrics.csv · mitigation_comparison.csv · bias_fairness_analysis.md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4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70">
                <a:solidFill>
                  <a:srgbClr val="5B6B7B"/>
                </a:solidFill>
                <a:latin typeface="Calibri"/>
              </a:rPr>
              <a:t>REPRODUCIBILITY AND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6200" y="5334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70">
                <a:solidFill>
                  <a:srgbClr val="5B6B7B"/>
                </a:solidFill>
                <a:latin typeface="Calibri"/>
              </a:rPr>
              <a:t>11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52500"/>
            <a:ext cx="108204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325" b="1">
                <a:solidFill>
                  <a:srgbClr val="1F3A5F"/>
                </a:solidFill>
                <a:latin typeface="Georgia"/>
              </a:rPr>
              <a:t>Measured, not asserted — largest delta 0 on a fresh re-run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820400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D8DEE6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Single seed (42), config-driven CLI (</a:t>
            </a:r>
            <a:r>
              <a:rPr sz="1125" b="0" i="0">
                <a:solidFill>
                  <a:srgbClr val="1D2A3A"/>
                </a:solidFill>
                <a:latin typeface="Consolas"/>
              </a:rPr>
              <a:t>python -m ssn …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), pinned </a:t>
            </a:r>
            <a:r>
              <a:rPr sz="1125" b="0" i="0">
                <a:solidFill>
                  <a:srgbClr val="1D2A3A"/>
                </a:solidFill>
                <a:latin typeface="Consolas"/>
              </a:rPr>
              <a:t>requirements.txt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, </a:t>
            </a:r>
            <a:r>
              <a:rPr sz="1125" b="0" i="0">
                <a:solidFill>
                  <a:srgbClr val="1D2A3A"/>
                </a:solidFill>
                <a:latin typeface="Consolas"/>
              </a:rPr>
              <a:t>n_jobs=1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 final fit</a:t>
            </a:r>
          </a:p>
          <a:p>
            <a:pPr>
              <a:lnSpc>
                <a:spcPct val="140000"/>
              </a:lnSpc>
              <a:spcBef>
                <a:spcPts val="1050"/>
              </a:spcBef>
            </a:pPr>
            <a:r>
              <a:rPr sz="1200">
                <a:solidFill>
                  <a:srgbClr val="D8DEE6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Persisted pipeline + manifest: git SHA, config hash, pipeline SHA-256, library versions, exact 21-column input schema, threshold, bands, test counter</a:t>
            </a:r>
          </a:p>
          <a:p>
            <a:pPr>
              <a:lnSpc>
                <a:spcPct val="140000"/>
              </a:lnSpc>
              <a:spcBef>
                <a:spcPts val="1050"/>
              </a:spcBef>
            </a:pPr>
            <a:r>
              <a:rPr sz="1200">
                <a:solidFill>
                  <a:srgbClr val="D8DEE6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Fresh-environment re-run: maximum absolute delta 0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 across every compared table (</a:t>
            </a:r>
            <a:r>
              <a:rPr sz="1125" b="0" i="0">
                <a:solidFill>
                  <a:srgbClr val="1D2A3A"/>
                </a:solidFill>
                <a:latin typeface="Consolas"/>
              </a:rPr>
              <a:t>docs/REPRODUCIBILITY.md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)</a:t>
            </a:r>
          </a:p>
          <a:p>
            <a:pPr>
              <a:lnSpc>
                <a:spcPct val="140000"/>
              </a:lnSpc>
              <a:spcBef>
                <a:spcPts val="1050"/>
              </a:spcBef>
            </a:pPr>
            <a:r>
              <a:rPr sz="1200">
                <a:solidFill>
                  <a:srgbClr val="D8DEE6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215 automated tests: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 leakage (allow-list, fit isolation, parquet-read spies), privacy (no labels/sensitive columns in the demo cohort), metrics (hand-computed), artifact loading, language rules; CI on every push (lint, secrets scan, tests, language scan)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389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B6B7B"/>
                </a:solidFill>
                <a:latin typeface="Consolas"/>
              </a:rPr>
              <a:t>docs/REPRODUCIBILITY.md · models/manifest.json · .github/workflows/ci.yml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4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70">
                <a:solidFill>
                  <a:srgbClr val="5B6B7B"/>
                </a:solidFill>
                <a:latin typeface="Calibri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6200" y="53340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70">
                <a:solidFill>
                  <a:srgbClr val="5B6B7B"/>
                </a:solidFill>
                <a:latin typeface="Calibri"/>
              </a:rPr>
              <a:t>12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52500"/>
            <a:ext cx="108204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325" b="1">
                <a:solidFill>
                  <a:srgbClr val="1F3A5F"/>
                </a:solidFill>
                <a:latin typeface="Georgia"/>
              </a:rPr>
              <a:t>What this does not establish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4000"/>
            <a:ext cx="10820400" cy="428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D8DEE6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Scope: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 one institution's history; no transfer to other institutions without re-training and re-auditing</a:t>
            </a:r>
          </a:p>
          <a:p>
            <a:pPr>
              <a:lnSpc>
                <a:spcPct val="140000"/>
              </a:lnSpc>
              <a:spcBef>
                <a:spcPts val="900"/>
              </a:spcBef>
            </a:pPr>
            <a:r>
              <a:rPr sz="1200">
                <a:solidFill>
                  <a:srgbClr val="D8DEE6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Proxies: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 parental qualification/occupation, application route, programme, schedule re-encode age and class</a:t>
            </a:r>
          </a:p>
          <a:p>
            <a:pPr>
              <a:lnSpc>
                <a:spcPct val="140000"/>
              </a:lnSpc>
              <a:spcBef>
                <a:spcPts val="900"/>
              </a:spcBef>
            </a:pPr>
            <a:r>
              <a:rPr sz="1200">
                <a:solidFill>
                  <a:srgbClr val="D8DEE6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Leakage guard cost: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 3 excluded financial columns worth ≈ 0.037 PR-AUC; recording time still unverified (open item)</a:t>
            </a:r>
          </a:p>
          <a:p>
            <a:pPr>
              <a:lnSpc>
                <a:spcPct val="140000"/>
              </a:lnSpc>
              <a:spcBef>
                <a:spcPts val="900"/>
              </a:spcBef>
            </a:pPr>
            <a:r>
              <a:rPr sz="1200">
                <a:solidFill>
                  <a:srgbClr val="D8DEE6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Uncertainty: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 candidate differences are within CV noise; the choice rests on calibration and is documented as such</a:t>
            </a:r>
          </a:p>
          <a:p>
            <a:pPr>
              <a:lnSpc>
                <a:spcPct val="140000"/>
              </a:lnSpc>
              <a:spcBef>
                <a:spcPts val="900"/>
              </a:spcBef>
            </a:pPr>
            <a:r>
              <a:rPr sz="1200">
                <a:solidFill>
                  <a:srgbClr val="D8DEE6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Not causal, not production-ready, not a replacement for advisers: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 the tool proposes a short list; a qualified adviser decides, may override, and records the decision locally</a:t>
            </a:r>
          </a:p>
          <a:p>
            <a:pPr>
              <a:lnSpc>
                <a:spcPct val="140000"/>
              </a:lnSpc>
              <a:spcBef>
                <a:spcPts val="900"/>
              </a:spcBef>
            </a:pPr>
            <a:r>
              <a:rPr sz="1200">
                <a:solidFill>
                  <a:srgbClr val="D8DEE6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Full text: </a:t>
            </a:r>
            <a:r>
              <a:rPr sz="1125" b="0" i="0">
                <a:solidFill>
                  <a:srgbClr val="1D2A3A"/>
                </a:solidFill>
                <a:latin typeface="Consolas"/>
              </a:rPr>
              <a:t>reports/limitations.md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, </a:t>
            </a:r>
            <a:r>
              <a:rPr sz="1125" b="0" i="0">
                <a:solidFill>
                  <a:srgbClr val="1D2A3A"/>
                </a:solidFill>
                <a:latin typeface="Consolas"/>
              </a:rPr>
              <a:t>reports/bias_fairness_analysis.md</a:t>
            </a:r>
            <a:r>
              <a:rPr sz="1200" b="0" i="0">
                <a:solidFill>
                  <a:srgbClr val="1D2A3A"/>
                </a:solidFill>
                <a:latin typeface="Calibri"/>
              </a:rPr>
              <a:t>, </a:t>
            </a:r>
            <a:r>
              <a:rPr sz="1125" b="0" i="0">
                <a:solidFill>
                  <a:srgbClr val="1D2A3A"/>
                </a:solidFill>
                <a:latin typeface="Consolas"/>
              </a:rPr>
              <a:t>reports/model_card.md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4600"/>
            <a:ext cx="1082040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38900"/>
            <a:ext cx="1082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B6B7B"/>
                </a:solidFill>
                <a:latin typeface="Consolas"/>
              </a:rPr>
              <a:t>reports/limitations.md · reports/bias_fairness_analysis.md · reports/model_card.md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